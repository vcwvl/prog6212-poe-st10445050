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13"/>
  </p:notesMasterIdLst>
  <p:sldIdLst>
    <p:sldId id="256" r:id="rId2"/>
    <p:sldId id="257"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2F7034-4D4A-4977-B3EB-26ADDB2535D1}" type="datetimeFigureOut">
              <a:rPr lang="en-ZA" smtClean="0"/>
              <a:t>2025/11/21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09AE27-AA28-4EC3-8A55-3406815AA72B}" type="slidenum">
              <a:rPr lang="en-ZA" smtClean="0"/>
              <a:t>‹#›</a:t>
            </a:fld>
            <a:endParaRPr lang="en-ZA"/>
          </a:p>
        </p:txBody>
      </p:sp>
    </p:spTree>
    <p:extLst>
      <p:ext uri="{BB962C8B-B14F-4D97-AF65-F5344CB8AC3E}">
        <p14:creationId xmlns:p14="http://schemas.microsoft.com/office/powerpoint/2010/main" val="465699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009AE27-AA28-4EC3-8A55-3406815AA72B}" type="slidenum">
              <a:rPr lang="en-ZA" smtClean="0"/>
              <a:t>1</a:t>
            </a:fld>
            <a:endParaRPr lang="en-ZA"/>
          </a:p>
        </p:txBody>
      </p:sp>
    </p:spTree>
    <p:extLst>
      <p:ext uri="{BB962C8B-B14F-4D97-AF65-F5344CB8AC3E}">
        <p14:creationId xmlns:p14="http://schemas.microsoft.com/office/powerpoint/2010/main" val="1989910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009AE27-AA28-4EC3-8A55-3406815AA72B}" type="slidenum">
              <a:rPr lang="en-ZA" smtClean="0"/>
              <a:t>2</a:t>
            </a:fld>
            <a:endParaRPr lang="en-ZA"/>
          </a:p>
        </p:txBody>
      </p:sp>
    </p:spTree>
    <p:extLst>
      <p:ext uri="{BB962C8B-B14F-4D97-AF65-F5344CB8AC3E}">
        <p14:creationId xmlns:p14="http://schemas.microsoft.com/office/powerpoint/2010/main" val="3327263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639A-3F02-E780-2A73-19DEFF05D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66D3D-4367-DBF2-3D79-9FA7BDBF2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1BA6B-9968-405A-FFEA-5E7FA17F166E}"/>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939FC480-5BA5-BE75-140C-2653DE809726}"/>
              </a:ext>
            </a:extLst>
          </p:cNvPr>
          <p:cNvSpPr>
            <a:spLocks noGrp="1"/>
          </p:cNvSpPr>
          <p:nvPr>
            <p:ph type="sldNum" sz="quarter" idx="5"/>
          </p:nvPr>
        </p:nvSpPr>
        <p:spPr/>
        <p:txBody>
          <a:bodyPr/>
          <a:lstStyle/>
          <a:p>
            <a:fld id="{D009AE27-AA28-4EC3-8A55-3406815AA72B}" type="slidenum">
              <a:rPr lang="en-ZA" smtClean="0"/>
              <a:t>3</a:t>
            </a:fld>
            <a:endParaRPr lang="en-ZA"/>
          </a:p>
        </p:txBody>
      </p:sp>
    </p:spTree>
    <p:extLst>
      <p:ext uri="{BB962C8B-B14F-4D97-AF65-F5344CB8AC3E}">
        <p14:creationId xmlns:p14="http://schemas.microsoft.com/office/powerpoint/2010/main" val="1147566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AF7B5-55C5-3996-6510-5787A4AD1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896D3-0701-028D-DBDD-CEE5035EC2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88D22-C6C5-24AE-B862-F54E0BBDF17E}"/>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BE07FDD0-FCBB-A5BF-E5E2-EE9D42C4DE0D}"/>
              </a:ext>
            </a:extLst>
          </p:cNvPr>
          <p:cNvSpPr>
            <a:spLocks noGrp="1"/>
          </p:cNvSpPr>
          <p:nvPr>
            <p:ph type="sldNum" sz="quarter" idx="5"/>
          </p:nvPr>
        </p:nvSpPr>
        <p:spPr/>
        <p:txBody>
          <a:bodyPr/>
          <a:lstStyle/>
          <a:p>
            <a:fld id="{D009AE27-AA28-4EC3-8A55-3406815AA72B}" type="slidenum">
              <a:rPr lang="en-ZA" smtClean="0"/>
              <a:t>4</a:t>
            </a:fld>
            <a:endParaRPr lang="en-ZA"/>
          </a:p>
        </p:txBody>
      </p:sp>
    </p:spTree>
    <p:extLst>
      <p:ext uri="{BB962C8B-B14F-4D97-AF65-F5344CB8AC3E}">
        <p14:creationId xmlns:p14="http://schemas.microsoft.com/office/powerpoint/2010/main" val="3997359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7812F-A74D-CE85-EAC8-8E250714F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29A0B-D744-AC23-8D3A-290BAF6D8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FC3CA-1CB2-B3F7-E9CA-3925836ACC20}"/>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4FD8C246-51BE-1412-5E36-27D87B172B35}"/>
              </a:ext>
            </a:extLst>
          </p:cNvPr>
          <p:cNvSpPr>
            <a:spLocks noGrp="1"/>
          </p:cNvSpPr>
          <p:nvPr>
            <p:ph type="sldNum" sz="quarter" idx="5"/>
          </p:nvPr>
        </p:nvSpPr>
        <p:spPr/>
        <p:txBody>
          <a:bodyPr/>
          <a:lstStyle/>
          <a:p>
            <a:fld id="{D009AE27-AA28-4EC3-8A55-3406815AA72B}" type="slidenum">
              <a:rPr lang="en-ZA" smtClean="0"/>
              <a:t>5</a:t>
            </a:fld>
            <a:endParaRPr lang="en-ZA"/>
          </a:p>
        </p:txBody>
      </p:sp>
    </p:spTree>
    <p:extLst>
      <p:ext uri="{BB962C8B-B14F-4D97-AF65-F5344CB8AC3E}">
        <p14:creationId xmlns:p14="http://schemas.microsoft.com/office/powerpoint/2010/main" val="329140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9E47B-B4CA-581C-FE26-5C4DF143F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67B6-AF75-5530-5C1E-B6F3B14F9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932AB-B86D-FFF4-1C0D-6E114D6E96FD}"/>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B5558657-A168-0D25-9021-B8F75FA6D698}"/>
              </a:ext>
            </a:extLst>
          </p:cNvPr>
          <p:cNvSpPr>
            <a:spLocks noGrp="1"/>
          </p:cNvSpPr>
          <p:nvPr>
            <p:ph type="sldNum" sz="quarter" idx="5"/>
          </p:nvPr>
        </p:nvSpPr>
        <p:spPr/>
        <p:txBody>
          <a:bodyPr/>
          <a:lstStyle/>
          <a:p>
            <a:fld id="{D009AE27-AA28-4EC3-8A55-3406815AA72B}" type="slidenum">
              <a:rPr lang="en-ZA" smtClean="0"/>
              <a:t>6</a:t>
            </a:fld>
            <a:endParaRPr lang="en-ZA"/>
          </a:p>
        </p:txBody>
      </p:sp>
    </p:spTree>
    <p:extLst>
      <p:ext uri="{BB962C8B-B14F-4D97-AF65-F5344CB8AC3E}">
        <p14:creationId xmlns:p14="http://schemas.microsoft.com/office/powerpoint/2010/main" val="395287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B9F49-35F0-18C6-F4A7-0B4E5A400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09028-4C5F-870C-739A-0E0F50024D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43806-1232-820B-89EE-2E960DF8E3FB}"/>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0A06AD03-9C38-D9EB-4F27-B9F812770549}"/>
              </a:ext>
            </a:extLst>
          </p:cNvPr>
          <p:cNvSpPr>
            <a:spLocks noGrp="1"/>
          </p:cNvSpPr>
          <p:nvPr>
            <p:ph type="sldNum" sz="quarter" idx="5"/>
          </p:nvPr>
        </p:nvSpPr>
        <p:spPr/>
        <p:txBody>
          <a:bodyPr/>
          <a:lstStyle/>
          <a:p>
            <a:fld id="{D009AE27-AA28-4EC3-8A55-3406815AA72B}" type="slidenum">
              <a:rPr lang="en-ZA" smtClean="0"/>
              <a:t>7</a:t>
            </a:fld>
            <a:endParaRPr lang="en-ZA"/>
          </a:p>
        </p:txBody>
      </p:sp>
    </p:spTree>
    <p:extLst>
      <p:ext uri="{BB962C8B-B14F-4D97-AF65-F5344CB8AC3E}">
        <p14:creationId xmlns:p14="http://schemas.microsoft.com/office/powerpoint/2010/main" val="3322192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9EBC1-266D-5F38-8649-88CE02846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74DA9-3F59-1F4B-A061-36F2CF93B4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3CF21-A95B-C6E8-20C7-4B2B9750B360}"/>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BB8EE2CF-3504-819B-A3ED-127DECC3EB96}"/>
              </a:ext>
            </a:extLst>
          </p:cNvPr>
          <p:cNvSpPr>
            <a:spLocks noGrp="1"/>
          </p:cNvSpPr>
          <p:nvPr>
            <p:ph type="sldNum" sz="quarter" idx="5"/>
          </p:nvPr>
        </p:nvSpPr>
        <p:spPr/>
        <p:txBody>
          <a:bodyPr/>
          <a:lstStyle/>
          <a:p>
            <a:fld id="{D009AE27-AA28-4EC3-8A55-3406815AA72B}" type="slidenum">
              <a:rPr lang="en-ZA" smtClean="0"/>
              <a:t>8</a:t>
            </a:fld>
            <a:endParaRPr lang="en-ZA"/>
          </a:p>
        </p:txBody>
      </p:sp>
    </p:spTree>
    <p:extLst>
      <p:ext uri="{BB962C8B-B14F-4D97-AF65-F5344CB8AC3E}">
        <p14:creationId xmlns:p14="http://schemas.microsoft.com/office/powerpoint/2010/main" val="390729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BE664-C2D2-C778-61A1-895E21129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81F84-6B22-3D9D-EDDB-4AB78C102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4DD34-99CE-DF4E-68F6-04C11C961A81}"/>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0559DADF-4D32-9EC1-F67E-0821852C0125}"/>
              </a:ext>
            </a:extLst>
          </p:cNvPr>
          <p:cNvSpPr>
            <a:spLocks noGrp="1"/>
          </p:cNvSpPr>
          <p:nvPr>
            <p:ph type="sldNum" sz="quarter" idx="5"/>
          </p:nvPr>
        </p:nvSpPr>
        <p:spPr/>
        <p:txBody>
          <a:bodyPr/>
          <a:lstStyle/>
          <a:p>
            <a:fld id="{D009AE27-AA28-4EC3-8A55-3406815AA72B}" type="slidenum">
              <a:rPr lang="en-ZA" smtClean="0"/>
              <a:t>9</a:t>
            </a:fld>
            <a:endParaRPr lang="en-ZA"/>
          </a:p>
        </p:txBody>
      </p:sp>
    </p:spTree>
    <p:extLst>
      <p:ext uri="{BB962C8B-B14F-4D97-AF65-F5344CB8AC3E}">
        <p14:creationId xmlns:p14="http://schemas.microsoft.com/office/powerpoint/2010/main" val="1586057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5606-AE6E-BCBF-A06D-7E141B67F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57C9B-CB94-0F60-1375-7669038B7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963A6-6BD8-7E6C-0708-FDBDA1B1C28D}"/>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D8F84F1F-3841-EFE0-9682-776EC231E7D6}"/>
              </a:ext>
            </a:extLst>
          </p:cNvPr>
          <p:cNvSpPr>
            <a:spLocks noGrp="1"/>
          </p:cNvSpPr>
          <p:nvPr>
            <p:ph type="sldNum" sz="quarter" idx="5"/>
          </p:nvPr>
        </p:nvSpPr>
        <p:spPr/>
        <p:txBody>
          <a:bodyPr/>
          <a:lstStyle/>
          <a:p>
            <a:fld id="{D009AE27-AA28-4EC3-8A55-3406815AA72B}" type="slidenum">
              <a:rPr lang="en-ZA" smtClean="0"/>
              <a:t>10</a:t>
            </a:fld>
            <a:endParaRPr lang="en-ZA"/>
          </a:p>
        </p:txBody>
      </p:sp>
    </p:spTree>
    <p:extLst>
      <p:ext uri="{BB962C8B-B14F-4D97-AF65-F5344CB8AC3E}">
        <p14:creationId xmlns:p14="http://schemas.microsoft.com/office/powerpoint/2010/main" val="3761687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62B8C-4857-ECB5-9547-6A4039692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747B9-7E6F-D5A7-C6E9-142EFC21A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0049F-CCCF-151F-3F8C-25BEA4205CBA}"/>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E3B208FE-616D-F4BE-B4F4-B3F2E8BA9C03}"/>
              </a:ext>
            </a:extLst>
          </p:cNvPr>
          <p:cNvSpPr>
            <a:spLocks noGrp="1"/>
          </p:cNvSpPr>
          <p:nvPr>
            <p:ph type="sldNum" sz="quarter" idx="5"/>
          </p:nvPr>
        </p:nvSpPr>
        <p:spPr/>
        <p:txBody>
          <a:bodyPr/>
          <a:lstStyle/>
          <a:p>
            <a:fld id="{D009AE27-AA28-4EC3-8A55-3406815AA72B}" type="slidenum">
              <a:rPr lang="en-ZA" smtClean="0"/>
              <a:t>11</a:t>
            </a:fld>
            <a:endParaRPr lang="en-ZA"/>
          </a:p>
        </p:txBody>
      </p:sp>
    </p:spTree>
    <p:extLst>
      <p:ext uri="{BB962C8B-B14F-4D97-AF65-F5344CB8AC3E}">
        <p14:creationId xmlns:p14="http://schemas.microsoft.com/office/powerpoint/2010/main" val="3513152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11/21/2025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5804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11/21/2025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0460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11/21/2025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511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11/21/2025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0557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11/21/2025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47947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11/21/2025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29689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11/21/2025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28597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11/21/2025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34975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11/21/2025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22539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11/21/2025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71035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11/21/2025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47016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11/21/2025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761786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tm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tmp"/><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0CF757-D4B2-C96C-E634-6450B3C94DD4}"/>
              </a:ext>
            </a:extLst>
          </p:cNvPr>
          <p:cNvSpPr>
            <a:spLocks noGrp="1"/>
          </p:cNvSpPr>
          <p:nvPr>
            <p:ph type="ctrTitle"/>
          </p:nvPr>
        </p:nvSpPr>
        <p:spPr>
          <a:xfrm>
            <a:off x="703400" y="871758"/>
            <a:ext cx="5227171" cy="3871143"/>
          </a:xfrm>
        </p:spPr>
        <p:txBody>
          <a:bodyPr>
            <a:normAutofit/>
          </a:bodyPr>
          <a:lstStyle/>
          <a:p>
            <a:pPr>
              <a:lnSpc>
                <a:spcPct val="90000"/>
              </a:lnSpc>
            </a:pPr>
            <a:r>
              <a:rPr lang="en-GB" sz="4600" dirty="0">
                <a:latin typeface="Amasis MT Pro Black" panose="02040A04050005020304" pitchFamily="18" charset="0"/>
                <a:cs typeface="Aharoni" panose="020F0502020204030204" pitchFamily="2" charset="-79"/>
              </a:rPr>
              <a:t>PROG6212 POE: </a:t>
            </a:r>
            <a:r>
              <a:rPr lang="en-ZA" sz="4600" dirty="0">
                <a:latin typeface="Amasis MT Pro Black" panose="02040A04050005020304" pitchFamily="18" charset="0"/>
                <a:cs typeface="Aharoni" panose="020F0502020204030204" pitchFamily="2" charset="-79"/>
              </a:rPr>
              <a:t>Contract Monthly Claim System</a:t>
            </a:r>
          </a:p>
        </p:txBody>
      </p:sp>
      <p:sp>
        <p:nvSpPr>
          <p:cNvPr id="3" name="Subtitle 2">
            <a:extLst>
              <a:ext uri="{FF2B5EF4-FFF2-40B4-BE49-F238E27FC236}">
                <a16:creationId xmlns:a16="http://schemas.microsoft.com/office/drawing/2014/main" id="{9719A2EE-9ACA-30A5-F79E-A017E81D26FD}"/>
              </a:ext>
            </a:extLst>
          </p:cNvPr>
          <p:cNvSpPr>
            <a:spLocks noGrp="1"/>
          </p:cNvSpPr>
          <p:nvPr>
            <p:ph type="subTitle" idx="1"/>
          </p:nvPr>
        </p:nvSpPr>
        <p:spPr>
          <a:xfrm>
            <a:off x="721688" y="4785543"/>
            <a:ext cx="4857857" cy="1005657"/>
          </a:xfrm>
        </p:spPr>
        <p:txBody>
          <a:bodyPr>
            <a:normAutofit/>
          </a:bodyPr>
          <a:lstStyle/>
          <a:p>
            <a:r>
              <a:rPr lang="en-GB" dirty="0">
                <a:latin typeface="Amasis MT Pro Black" panose="02040A04050005020304" pitchFamily="18" charset="0"/>
              </a:rPr>
              <a:t>Presented By</a:t>
            </a:r>
          </a:p>
          <a:p>
            <a:r>
              <a:rPr lang="en-GB" dirty="0">
                <a:latin typeface="Amasis MT Pro Black" panose="02040A04050005020304" pitchFamily="18" charset="0"/>
              </a:rPr>
              <a:t>Keona Mackan (ST10445050)</a:t>
            </a:r>
            <a:endParaRPr lang="en-ZA" dirty="0">
              <a:latin typeface="Amasis MT Pro Black" panose="02040A04050005020304" pitchFamily="18" charset="0"/>
            </a:endParaRPr>
          </a:p>
        </p:txBody>
      </p:sp>
      <p:cxnSp>
        <p:nvCxnSpPr>
          <p:cNvPr id="54" name="Straight Connector 5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green circle with white text&#10;&#10;AI-generated content may be incorrect.">
            <a:extLst>
              <a:ext uri="{FF2B5EF4-FFF2-40B4-BE49-F238E27FC236}">
                <a16:creationId xmlns:a16="http://schemas.microsoft.com/office/drawing/2014/main" id="{7B71B189-70CC-6046-63BA-4273C95ED855}"/>
              </a:ext>
            </a:extLst>
          </p:cNvPr>
          <p:cNvPicPr>
            <a:picLocks noChangeAspect="1"/>
          </p:cNvPicPr>
          <p:nvPr/>
        </p:nvPicPr>
        <p:blipFill>
          <a:blip r:embed="rId3">
            <a:extLst>
              <a:ext uri="{28A0092B-C50C-407E-A947-70E740481C1C}">
                <a14:useLocalDpi xmlns:a14="http://schemas.microsoft.com/office/drawing/2010/main" val="0"/>
              </a:ext>
            </a:extLst>
          </a:blip>
          <a:srcRect l="7936" r="9079"/>
          <a:stretch>
            <a:fillRect/>
          </a:stretch>
        </p:blipFill>
        <p:spPr>
          <a:xfrm>
            <a:off x="6515100" y="10"/>
            <a:ext cx="5676900" cy="6857990"/>
          </a:xfrm>
          <a:prstGeom prst="rect">
            <a:avLst/>
          </a:prstGeom>
        </p:spPr>
      </p:pic>
    </p:spTree>
    <p:extLst>
      <p:ext uri="{BB962C8B-B14F-4D97-AF65-F5344CB8AC3E}">
        <p14:creationId xmlns:p14="http://schemas.microsoft.com/office/powerpoint/2010/main" val="305116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B3CA38D-7BB0-4D35-BE00-0F4876602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63077"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1C1A8-B89A-70B1-9371-26C16D91B854}"/>
              </a:ext>
            </a:extLst>
          </p:cNvPr>
          <p:cNvSpPr>
            <a:spLocks noGrp="1"/>
          </p:cNvSpPr>
          <p:nvPr>
            <p:ph type="title"/>
          </p:nvPr>
        </p:nvSpPr>
        <p:spPr>
          <a:xfrm>
            <a:off x="2863712" y="913218"/>
            <a:ext cx="10691265" cy="1371030"/>
          </a:xfrm>
        </p:spPr>
        <p:txBody>
          <a:bodyPr>
            <a:normAutofit/>
          </a:bodyPr>
          <a:lstStyle/>
          <a:p>
            <a:r>
              <a:rPr lang="en-GB">
                <a:latin typeface="Aptos Black" panose="020F0502020204030204" pitchFamily="34" charset="0"/>
              </a:rPr>
              <a:t>This presentation covers:</a:t>
            </a:r>
            <a:br>
              <a:rPr lang="en-GB"/>
            </a:br>
            <a:endParaRPr lang="en-ZA" dirty="0"/>
          </a:p>
        </p:txBody>
      </p:sp>
      <p:sp>
        <p:nvSpPr>
          <p:cNvPr id="3" name="Content Placeholder 2">
            <a:extLst>
              <a:ext uri="{FF2B5EF4-FFF2-40B4-BE49-F238E27FC236}">
                <a16:creationId xmlns:a16="http://schemas.microsoft.com/office/drawing/2014/main" id="{41B3ACE8-EFFE-9FC5-0881-5A9CE9FF112C}"/>
              </a:ext>
            </a:extLst>
          </p:cNvPr>
          <p:cNvSpPr>
            <a:spLocks noGrp="1"/>
          </p:cNvSpPr>
          <p:nvPr>
            <p:ph idx="1"/>
          </p:nvPr>
        </p:nvSpPr>
        <p:spPr>
          <a:xfrm>
            <a:off x="2863712" y="2221992"/>
            <a:ext cx="10691265" cy="3739896"/>
          </a:xfrm>
        </p:spPr>
        <p:txBody>
          <a:bodyPr>
            <a:normAutofit/>
          </a:bodyPr>
          <a:lstStyle/>
          <a:p>
            <a:r>
              <a:rPr lang="en-GB" b="1" dirty="0">
                <a:latin typeface="Aptos" panose="020B0004020202020204" pitchFamily="34" charset="0"/>
              </a:rPr>
              <a:t>Feedback</a:t>
            </a:r>
            <a:r>
              <a:rPr lang="en-GB" dirty="0">
                <a:latin typeface="Aptos" panose="020B0004020202020204" pitchFamily="34" charset="0"/>
              </a:rPr>
              <a:t> received from Part 2 and the </a:t>
            </a:r>
            <a:r>
              <a:rPr lang="en-GB" b="1" dirty="0">
                <a:latin typeface="Aptos" panose="020B0004020202020204" pitchFamily="34" charset="0"/>
              </a:rPr>
              <a:t>fixes</a:t>
            </a:r>
            <a:r>
              <a:rPr lang="en-GB" dirty="0">
                <a:latin typeface="Aptos" panose="020B0004020202020204" pitchFamily="34" charset="0"/>
              </a:rPr>
              <a:t> implemented in Part 3.</a:t>
            </a:r>
          </a:p>
          <a:p>
            <a:r>
              <a:rPr lang="en-GB" b="1" dirty="0">
                <a:latin typeface="Aptos" panose="020B0004020202020204" pitchFamily="34" charset="0"/>
              </a:rPr>
              <a:t>Detailed updates</a:t>
            </a:r>
            <a:r>
              <a:rPr lang="en-GB" dirty="0">
                <a:latin typeface="Aptos" panose="020B0004020202020204" pitchFamily="34" charset="0"/>
              </a:rPr>
              <a:t> and </a:t>
            </a:r>
            <a:r>
              <a:rPr lang="en-GB" b="1" dirty="0">
                <a:latin typeface="Aptos" panose="020B0004020202020204" pitchFamily="34" charset="0"/>
              </a:rPr>
              <a:t>improvements</a:t>
            </a:r>
            <a:r>
              <a:rPr lang="en-GB" dirty="0">
                <a:latin typeface="Aptos" panose="020B0004020202020204" pitchFamily="34" charset="0"/>
              </a:rPr>
              <a:t> in the system claim submission and approval processes.</a:t>
            </a:r>
          </a:p>
          <a:p>
            <a:r>
              <a:rPr lang="en-GB" dirty="0">
                <a:latin typeface="Aptos" panose="020B0004020202020204" pitchFamily="34" charset="0"/>
              </a:rPr>
              <a:t>New features introduced in </a:t>
            </a:r>
            <a:r>
              <a:rPr lang="en-GB" b="1" dirty="0">
                <a:latin typeface="Aptos" panose="020B0004020202020204" pitchFamily="34" charset="0"/>
              </a:rPr>
              <a:t>Part 3</a:t>
            </a:r>
            <a:r>
              <a:rPr lang="en-GB" dirty="0">
                <a:latin typeface="Aptos" panose="020B0004020202020204" pitchFamily="34" charset="0"/>
              </a:rPr>
              <a:t>, including </a:t>
            </a:r>
            <a:r>
              <a:rPr lang="en-GB" b="1" dirty="0">
                <a:latin typeface="Aptos" panose="020B0004020202020204" pitchFamily="34" charset="0"/>
              </a:rPr>
              <a:t>HR functionality</a:t>
            </a:r>
            <a:r>
              <a:rPr lang="en-GB" dirty="0">
                <a:latin typeface="Aptos" panose="020B0004020202020204" pitchFamily="34" charset="0"/>
              </a:rPr>
              <a:t>, </a:t>
            </a:r>
            <a:r>
              <a:rPr lang="en-GB" b="1" dirty="0">
                <a:latin typeface="Aptos" panose="020B0004020202020204" pitchFamily="34" charset="0"/>
              </a:rPr>
              <a:t>unit testing</a:t>
            </a:r>
            <a:r>
              <a:rPr lang="en-GB" dirty="0">
                <a:latin typeface="Aptos" panose="020B0004020202020204" pitchFamily="34" charset="0"/>
              </a:rPr>
              <a:t>, </a:t>
            </a:r>
            <a:r>
              <a:rPr lang="en-GB" b="1" dirty="0">
                <a:latin typeface="Aptos" panose="020B0004020202020204" pitchFamily="34" charset="0"/>
              </a:rPr>
              <a:t>error handling</a:t>
            </a:r>
            <a:r>
              <a:rPr lang="en-GB" dirty="0">
                <a:latin typeface="Aptos" panose="020B0004020202020204" pitchFamily="34" charset="0"/>
              </a:rPr>
              <a:t>, and </a:t>
            </a:r>
            <a:r>
              <a:rPr lang="en-GB" b="1" dirty="0">
                <a:latin typeface="Aptos" panose="020B0004020202020204" pitchFamily="34" charset="0"/>
              </a:rPr>
              <a:t>automated claim approval</a:t>
            </a:r>
            <a:r>
              <a:rPr lang="en-GB" dirty="0">
                <a:latin typeface="Aptos" panose="020B0004020202020204" pitchFamily="34" charset="0"/>
              </a:rPr>
              <a:t>.</a:t>
            </a:r>
          </a:p>
          <a:p>
            <a:r>
              <a:rPr lang="en-GB" dirty="0">
                <a:latin typeface="Aptos" panose="020B0004020202020204" pitchFamily="34" charset="0"/>
              </a:rPr>
              <a:t>Screenshots and </a:t>
            </a:r>
            <a:r>
              <a:rPr lang="en-GB" b="1" dirty="0">
                <a:latin typeface="Aptos" panose="020B0004020202020204" pitchFamily="34" charset="0"/>
              </a:rPr>
              <a:t>code explanations</a:t>
            </a:r>
            <a:r>
              <a:rPr lang="en-GB" dirty="0">
                <a:latin typeface="Aptos" panose="020B0004020202020204" pitchFamily="34" charset="0"/>
              </a:rPr>
              <a:t> for the main improvements </a:t>
            </a:r>
            <a:r>
              <a:rPr lang="en-GB">
                <a:latin typeface="Aptos" panose="020B0004020202020204" pitchFamily="34" charset="0"/>
              </a:rPr>
              <a:t>and functionality.</a:t>
            </a:r>
            <a:br>
              <a:rPr lang="en-GB" dirty="0"/>
            </a:br>
            <a:endParaRPr lang="en-ZA" dirty="0"/>
          </a:p>
        </p:txBody>
      </p:sp>
      <p:cxnSp>
        <p:nvCxnSpPr>
          <p:cNvPr id="25" name="Straight Connector 24">
            <a:extLst>
              <a:ext uri="{FF2B5EF4-FFF2-40B4-BE49-F238E27FC236}">
                <a16:creationId xmlns:a16="http://schemas.microsoft.com/office/drawing/2014/main" id="{4514FD1B-A0BF-4C73-A68E-4B1F7299F6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3177"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8B100A6-1EBC-40AB-BB7E-26807F3CF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3177"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B7C53FF-9E8C-44F1-0BD8-7A18DBE34B71}"/>
              </a:ext>
            </a:extLst>
          </p:cNvPr>
          <p:cNvPicPr>
            <a:picLocks noChangeAspect="1"/>
          </p:cNvPicPr>
          <p:nvPr/>
        </p:nvPicPr>
        <p:blipFill>
          <a:blip r:embed="rId3">
            <a:extLst>
              <a:ext uri="{28A0092B-C50C-407E-A947-70E740481C1C}">
                <a14:useLocalDpi xmlns:a14="http://schemas.microsoft.com/office/drawing/2010/main" val="0"/>
              </a:ext>
            </a:extLst>
          </a:blip>
          <a:srcRect l="37953" r="37953"/>
          <a:stretch/>
        </p:blipFill>
        <p:spPr>
          <a:xfrm>
            <a:off x="19" y="-1"/>
            <a:ext cx="2163077" cy="6858001"/>
          </a:xfrm>
          <a:prstGeom prst="rect">
            <a:avLst/>
          </a:prstGeom>
        </p:spPr>
      </p:pic>
    </p:spTree>
    <p:extLst>
      <p:ext uri="{BB962C8B-B14F-4D97-AF65-F5344CB8AC3E}">
        <p14:creationId xmlns:p14="http://schemas.microsoft.com/office/powerpoint/2010/main" val="2083771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91F5AC-D83C-E09F-2646-7B5EBF137F7F}"/>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63077"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F1F329-CF77-3C37-3A5D-7E9A17E66E7F}"/>
              </a:ext>
            </a:extLst>
          </p:cNvPr>
          <p:cNvSpPr>
            <a:spLocks noGrp="1"/>
          </p:cNvSpPr>
          <p:nvPr>
            <p:ph type="title"/>
          </p:nvPr>
        </p:nvSpPr>
        <p:spPr>
          <a:xfrm>
            <a:off x="2863164" y="909637"/>
            <a:ext cx="6283419" cy="1316736"/>
          </a:xfrm>
        </p:spPr>
        <p:txBody>
          <a:bodyPr>
            <a:normAutofit/>
          </a:bodyPr>
          <a:lstStyle/>
          <a:p>
            <a:pPr>
              <a:lnSpc>
                <a:spcPct val="90000"/>
              </a:lnSpc>
            </a:pPr>
            <a:r>
              <a:rPr lang="en-GB" sz="2800">
                <a:latin typeface="Aptos Black" panose="020F0502020204030204" pitchFamily="34" charset="0"/>
              </a:rPr>
              <a:t>Lecturer Feedback Received in Part 2:</a:t>
            </a:r>
            <a:br>
              <a:rPr lang="en-GB" sz="2800"/>
            </a:br>
            <a:endParaRPr lang="en-ZA" sz="2800" dirty="0"/>
          </a:p>
        </p:txBody>
      </p:sp>
      <p:cxnSp>
        <p:nvCxnSpPr>
          <p:cNvPr id="77" name="Straight Connector 76">
            <a:extLst>
              <a:ext uri="{FF2B5EF4-FFF2-40B4-BE49-F238E27FC236}">
                <a16:creationId xmlns:a16="http://schemas.microsoft.com/office/drawing/2014/main" id="{9AEDDB4C-6582-43D5-AF25-99F4AD3A1B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3177"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Content Placeholder 2">
            <a:extLst>
              <a:ext uri="{FF2B5EF4-FFF2-40B4-BE49-F238E27FC236}">
                <a16:creationId xmlns:a16="http://schemas.microsoft.com/office/drawing/2014/main" id="{03A8BE79-57BA-AC45-AD28-1F702CA4F9C5}"/>
              </a:ext>
            </a:extLst>
          </p:cNvPr>
          <p:cNvSpPr>
            <a:spLocks noGrp="1"/>
          </p:cNvSpPr>
          <p:nvPr>
            <p:ph idx="1"/>
          </p:nvPr>
        </p:nvSpPr>
        <p:spPr>
          <a:xfrm>
            <a:off x="2863164" y="2226373"/>
            <a:ext cx="6283419" cy="3721990"/>
          </a:xfrm>
        </p:spPr>
        <p:txBody>
          <a:bodyPr>
            <a:normAutofit fontScale="77500" lnSpcReduction="20000"/>
          </a:bodyPr>
          <a:lstStyle/>
          <a:p>
            <a:pPr marL="0" indent="0">
              <a:lnSpc>
                <a:spcPct val="100000"/>
              </a:lnSpc>
              <a:buNone/>
            </a:pPr>
            <a:r>
              <a:rPr lang="en-GB" sz="1900" dirty="0">
                <a:latin typeface="Aptos" panose="020B0004020202020204" pitchFamily="34" charset="0"/>
              </a:rPr>
              <a:t>In Part 2, feedback highlighted several key issues that were addressed in Part 3:</a:t>
            </a:r>
          </a:p>
          <a:p>
            <a:pPr marL="0" indent="0">
              <a:lnSpc>
                <a:spcPct val="100000"/>
              </a:lnSpc>
              <a:buNone/>
            </a:pPr>
            <a:r>
              <a:rPr lang="en-GB" sz="1900" b="1" dirty="0">
                <a:latin typeface="Aptos" panose="020B0004020202020204" pitchFamily="34" charset="0"/>
              </a:rPr>
              <a:t>Programme Manager Verification: </a:t>
            </a:r>
            <a:r>
              <a:rPr lang="en-GB" sz="1900" dirty="0">
                <a:latin typeface="Aptos" panose="020B0004020202020204" pitchFamily="34" charset="0"/>
              </a:rPr>
              <a:t>The Programme Manager workflow was unclear, and the manager's UI was not fully structured. This led to confusion and inefficiency in the approval process.</a:t>
            </a:r>
          </a:p>
          <a:p>
            <a:pPr marL="0" indent="0">
              <a:lnSpc>
                <a:spcPct val="100000"/>
              </a:lnSpc>
              <a:buNone/>
            </a:pPr>
            <a:r>
              <a:rPr lang="en-GB" sz="1900" b="1" dirty="0">
                <a:latin typeface="Aptos" panose="020B0004020202020204" pitchFamily="34" charset="0"/>
              </a:rPr>
              <a:t>Button Overlap in the Manager View: </a:t>
            </a:r>
            <a:r>
              <a:rPr lang="en-GB" sz="1900" dirty="0">
                <a:latin typeface="Aptos" panose="020B0004020202020204" pitchFamily="34" charset="0"/>
              </a:rPr>
              <a:t>Buttons in the Academic Manager view overlapped, negatively impacting the user experience and causing a cluttered interface.</a:t>
            </a:r>
          </a:p>
          <a:p>
            <a:pPr marL="0" indent="0">
              <a:lnSpc>
                <a:spcPct val="100000"/>
              </a:lnSpc>
              <a:buNone/>
            </a:pPr>
            <a:r>
              <a:rPr lang="en-GB" sz="1900" b="1" dirty="0">
                <a:latin typeface="Aptos" panose="020B0004020202020204" pitchFamily="34" charset="0"/>
              </a:rPr>
              <a:t>Error Handling and Unit Testing: </a:t>
            </a:r>
            <a:r>
              <a:rPr lang="en-GB" sz="1900" dirty="0">
                <a:latin typeface="Aptos" panose="020B0004020202020204" pitchFamily="34" charset="0"/>
              </a:rPr>
              <a:t>Part 2 lacked sufficient error handling and unit testing, which left gaps in the system's robustness and reliability.</a:t>
            </a:r>
          </a:p>
          <a:p>
            <a:pPr marL="0" indent="0">
              <a:lnSpc>
                <a:spcPct val="100000"/>
              </a:lnSpc>
              <a:buNone/>
            </a:pPr>
            <a:endParaRPr lang="en-GB" sz="1900" dirty="0">
              <a:latin typeface="Aptos" panose="020B0004020202020204" pitchFamily="34" charset="0"/>
            </a:endParaRPr>
          </a:p>
          <a:p>
            <a:pPr marL="0" indent="0">
              <a:lnSpc>
                <a:spcPct val="100000"/>
              </a:lnSpc>
              <a:buNone/>
            </a:pPr>
            <a:r>
              <a:rPr lang="en-GB" sz="1900" dirty="0">
                <a:latin typeface="Aptos" panose="020B0004020202020204" pitchFamily="34" charset="0"/>
              </a:rPr>
              <a:t>These issues have been fully resolved and significantly improved in Part 3, ensuring a more efficient, user-friendly system with comprehensive error handling and testing.</a:t>
            </a:r>
            <a:br>
              <a:rPr lang="en-GB" sz="1400" dirty="0"/>
            </a:br>
            <a:endParaRPr lang="en-ZA" sz="1400" dirty="0"/>
          </a:p>
        </p:txBody>
      </p:sp>
      <p:pic>
        <p:nvPicPr>
          <p:cNvPr id="6" name="Picture 5" descr="A close-up of a logo&#10;&#10;AI-generated content may be incorrect.">
            <a:extLst>
              <a:ext uri="{FF2B5EF4-FFF2-40B4-BE49-F238E27FC236}">
                <a16:creationId xmlns:a16="http://schemas.microsoft.com/office/drawing/2014/main" id="{F1E203B0-9935-61E9-761A-60A74BA3F4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5551" y="2754417"/>
            <a:ext cx="3949425" cy="543045"/>
          </a:xfrm>
          <a:prstGeom prst="rect">
            <a:avLst/>
          </a:prstGeom>
        </p:spPr>
      </p:pic>
      <p:pic>
        <p:nvPicPr>
          <p:cNvPr id="8" name="Picture 7">
            <a:extLst>
              <a:ext uri="{FF2B5EF4-FFF2-40B4-BE49-F238E27FC236}">
                <a16:creationId xmlns:a16="http://schemas.microsoft.com/office/drawing/2014/main" id="{4AE20FBD-012F-2CC2-C564-65C6AB5286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05550" y="3586904"/>
            <a:ext cx="3949425" cy="414689"/>
          </a:xfrm>
          <a:prstGeom prst="rect">
            <a:avLst/>
          </a:prstGeom>
        </p:spPr>
      </p:pic>
      <p:cxnSp>
        <p:nvCxnSpPr>
          <p:cNvPr id="78" name="Straight Connector 77">
            <a:extLst>
              <a:ext uri="{FF2B5EF4-FFF2-40B4-BE49-F238E27FC236}">
                <a16:creationId xmlns:a16="http://schemas.microsoft.com/office/drawing/2014/main" id="{AB152A91-2920-4848-A8BC-B15DA324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3177"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green square with white text&#10;&#10;AI-generated content may be incorrect.">
            <a:extLst>
              <a:ext uri="{FF2B5EF4-FFF2-40B4-BE49-F238E27FC236}">
                <a16:creationId xmlns:a16="http://schemas.microsoft.com/office/drawing/2014/main" id="{0C5CB85D-88DF-1ED2-D1B5-F61B2BDCBC77}"/>
              </a:ext>
            </a:extLst>
          </p:cNvPr>
          <p:cNvPicPr>
            <a:picLocks noChangeAspect="1"/>
          </p:cNvPicPr>
          <p:nvPr/>
        </p:nvPicPr>
        <p:blipFill>
          <a:blip r:embed="rId5">
            <a:extLst>
              <a:ext uri="{28A0092B-C50C-407E-A947-70E740481C1C}">
                <a14:useLocalDpi xmlns:a14="http://schemas.microsoft.com/office/drawing/2010/main" val="0"/>
              </a:ext>
            </a:extLst>
          </a:blip>
          <a:srcRect l="37953" r="37953"/>
          <a:stretch/>
        </p:blipFill>
        <p:spPr>
          <a:xfrm>
            <a:off x="19" y="-1"/>
            <a:ext cx="2163077" cy="6858001"/>
          </a:xfrm>
          <a:prstGeom prst="rect">
            <a:avLst/>
          </a:prstGeom>
        </p:spPr>
      </p:pic>
    </p:spTree>
    <p:extLst>
      <p:ext uri="{BB962C8B-B14F-4D97-AF65-F5344CB8AC3E}">
        <p14:creationId xmlns:p14="http://schemas.microsoft.com/office/powerpoint/2010/main" val="186046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5CF25D-6936-F446-AB89-9290C5152793}"/>
            </a:ext>
          </a:extLst>
        </p:cNvPr>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63077"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87C461-EB6B-B6CB-AF77-4A79EA46483B}"/>
              </a:ext>
            </a:extLst>
          </p:cNvPr>
          <p:cNvSpPr>
            <a:spLocks noGrp="1"/>
          </p:cNvSpPr>
          <p:nvPr>
            <p:ph type="title"/>
          </p:nvPr>
        </p:nvSpPr>
        <p:spPr>
          <a:xfrm>
            <a:off x="2863165" y="909637"/>
            <a:ext cx="5958216" cy="1316736"/>
          </a:xfrm>
        </p:spPr>
        <p:txBody>
          <a:bodyPr>
            <a:normAutofit/>
          </a:bodyPr>
          <a:lstStyle/>
          <a:p>
            <a:pPr>
              <a:lnSpc>
                <a:spcPct val="90000"/>
              </a:lnSpc>
            </a:pPr>
            <a:r>
              <a:rPr lang="en-GB" sz="2500">
                <a:latin typeface="Aptos Black" panose="020F0502020204030204" pitchFamily="34" charset="0"/>
              </a:rPr>
              <a:t>FIX 1: PROGRAMME MANAGER VERIFICATION &amp; BUTTON OVERLAP</a:t>
            </a:r>
            <a:br>
              <a:rPr lang="en-GB" sz="2500"/>
            </a:br>
            <a:endParaRPr lang="en-ZA" sz="2500"/>
          </a:p>
        </p:txBody>
      </p:sp>
      <p:cxnSp>
        <p:nvCxnSpPr>
          <p:cNvPr id="92" name="Straight Connector 91">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3177"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Content Placeholder 2">
            <a:extLst>
              <a:ext uri="{FF2B5EF4-FFF2-40B4-BE49-F238E27FC236}">
                <a16:creationId xmlns:a16="http://schemas.microsoft.com/office/drawing/2014/main" id="{BB9995F0-CE7F-7A91-E038-E2B5AE18FCD1}"/>
              </a:ext>
            </a:extLst>
          </p:cNvPr>
          <p:cNvSpPr>
            <a:spLocks noGrp="1"/>
          </p:cNvSpPr>
          <p:nvPr>
            <p:ph idx="1"/>
          </p:nvPr>
        </p:nvSpPr>
        <p:spPr>
          <a:xfrm>
            <a:off x="2863165" y="2235251"/>
            <a:ext cx="5958216" cy="3713109"/>
          </a:xfrm>
        </p:spPr>
        <p:txBody>
          <a:bodyPr>
            <a:normAutofit fontScale="92500" lnSpcReduction="10000"/>
          </a:bodyPr>
          <a:lstStyle/>
          <a:p>
            <a:pPr marL="0" indent="0">
              <a:buNone/>
            </a:pPr>
            <a:r>
              <a:rPr lang="en-GB" dirty="0">
                <a:latin typeface="Aptos" panose="020B0004020202020204" pitchFamily="34" charset="0"/>
              </a:rPr>
              <a:t>In Part 3, a </a:t>
            </a:r>
            <a:r>
              <a:rPr lang="en-GB" b="1" dirty="0">
                <a:latin typeface="Aptos" panose="020B0004020202020204" pitchFamily="34" charset="0"/>
              </a:rPr>
              <a:t>dedicated Manager view </a:t>
            </a:r>
            <a:r>
              <a:rPr lang="en-GB" dirty="0">
                <a:latin typeface="Aptos" panose="020B0004020202020204" pitchFamily="34" charset="0"/>
              </a:rPr>
              <a:t>was created to streamline the </a:t>
            </a:r>
            <a:r>
              <a:rPr lang="en-GB" b="1" dirty="0">
                <a:latin typeface="Aptos" panose="020B0004020202020204" pitchFamily="34" charset="0"/>
              </a:rPr>
              <a:t>approval workflow </a:t>
            </a:r>
            <a:r>
              <a:rPr lang="en-GB" dirty="0">
                <a:latin typeface="Aptos" panose="020B0004020202020204" pitchFamily="34" charset="0"/>
              </a:rPr>
              <a:t>(Lecturer → Coordinator → Manager), ensuring a clearer and more structured process. </a:t>
            </a:r>
          </a:p>
          <a:p>
            <a:pPr marL="0" indent="0">
              <a:buNone/>
            </a:pPr>
            <a:r>
              <a:rPr lang="en-GB" dirty="0">
                <a:latin typeface="Aptos" panose="020B0004020202020204" pitchFamily="34" charset="0"/>
              </a:rPr>
              <a:t>The </a:t>
            </a:r>
            <a:r>
              <a:rPr lang="en-GB" b="1" dirty="0">
                <a:latin typeface="Aptos" panose="020B0004020202020204" pitchFamily="34" charset="0"/>
              </a:rPr>
              <a:t>UI layout </a:t>
            </a:r>
            <a:r>
              <a:rPr lang="en-GB" dirty="0">
                <a:latin typeface="Aptos" panose="020B0004020202020204" pitchFamily="34" charset="0"/>
              </a:rPr>
              <a:t>was redesigned using flexbox to eliminate overlapping buttons, providing a more responsive and intuitive interface. Buttons are now properly aligned and visually separated, improving readability and usability.</a:t>
            </a:r>
          </a:p>
          <a:p>
            <a:pPr marL="0" indent="0">
              <a:buNone/>
            </a:pPr>
            <a:endParaRPr lang="en-GB" dirty="0"/>
          </a:p>
          <a:p>
            <a:pPr marL="0" indent="0">
              <a:buNone/>
            </a:pPr>
            <a:br>
              <a:rPr lang="en-GB" dirty="0"/>
            </a:br>
            <a:endParaRPr lang="en-ZA" dirty="0"/>
          </a:p>
        </p:txBody>
      </p:sp>
      <p:pic>
        <p:nvPicPr>
          <p:cNvPr id="9" name="Picture 8" descr="A screenshot of a computer&#10;&#10;AI-generated content may be incorrect.">
            <a:extLst>
              <a:ext uri="{FF2B5EF4-FFF2-40B4-BE49-F238E27FC236}">
                <a16:creationId xmlns:a16="http://schemas.microsoft.com/office/drawing/2014/main" id="{0455B48B-CECC-4DAD-82BE-EB1A439CDC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1374" y="4030055"/>
            <a:ext cx="3875457" cy="2596557"/>
          </a:xfrm>
          <a:prstGeom prst="rect">
            <a:avLst/>
          </a:prstGeom>
        </p:spPr>
      </p:pic>
      <p:cxnSp>
        <p:nvCxnSpPr>
          <p:cNvPr id="94" name="Straight Connector 93">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3177"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screenshot of a computer&#10;&#10;AI-generated content may be incorrect.">
            <a:extLst>
              <a:ext uri="{FF2B5EF4-FFF2-40B4-BE49-F238E27FC236}">
                <a16:creationId xmlns:a16="http://schemas.microsoft.com/office/drawing/2014/main" id="{EC50AE4C-AD7D-5195-2F11-2270DC232D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21979" y="1104340"/>
            <a:ext cx="3784852" cy="2535851"/>
          </a:xfrm>
          <a:prstGeom prst="rect">
            <a:avLst/>
          </a:prstGeom>
        </p:spPr>
      </p:pic>
      <p:pic>
        <p:nvPicPr>
          <p:cNvPr id="5" name="Picture 4" descr="A green square with white text&#10;&#10;AI-generated content may be incorrect.">
            <a:extLst>
              <a:ext uri="{FF2B5EF4-FFF2-40B4-BE49-F238E27FC236}">
                <a16:creationId xmlns:a16="http://schemas.microsoft.com/office/drawing/2014/main" id="{5609A57E-AB27-7353-F0A9-6D7FEE33DBDA}"/>
              </a:ext>
            </a:extLst>
          </p:cNvPr>
          <p:cNvPicPr>
            <a:picLocks noChangeAspect="1"/>
          </p:cNvPicPr>
          <p:nvPr/>
        </p:nvPicPr>
        <p:blipFill>
          <a:blip r:embed="rId5">
            <a:extLst>
              <a:ext uri="{28A0092B-C50C-407E-A947-70E740481C1C}">
                <a14:useLocalDpi xmlns:a14="http://schemas.microsoft.com/office/drawing/2010/main" val="0"/>
              </a:ext>
            </a:extLst>
          </a:blip>
          <a:srcRect l="37953" r="37953"/>
          <a:stretch/>
        </p:blipFill>
        <p:spPr>
          <a:xfrm>
            <a:off x="19" y="-1"/>
            <a:ext cx="1353065" cy="6858001"/>
          </a:xfrm>
          <a:prstGeom prst="rect">
            <a:avLst/>
          </a:prstGeom>
        </p:spPr>
      </p:pic>
      <p:sp>
        <p:nvSpPr>
          <p:cNvPr id="11" name="TextBox 10">
            <a:extLst>
              <a:ext uri="{FF2B5EF4-FFF2-40B4-BE49-F238E27FC236}">
                <a16:creationId xmlns:a16="http://schemas.microsoft.com/office/drawing/2014/main" id="{D9A9D64D-596B-C97E-338F-5F2C21696A62}"/>
              </a:ext>
            </a:extLst>
          </p:cNvPr>
          <p:cNvSpPr txBox="1"/>
          <p:nvPr/>
        </p:nvSpPr>
        <p:spPr>
          <a:xfrm>
            <a:off x="10885200" y="722376"/>
            <a:ext cx="1458410" cy="381964"/>
          </a:xfrm>
          <a:prstGeom prst="rect">
            <a:avLst/>
          </a:prstGeom>
          <a:noFill/>
        </p:spPr>
        <p:txBody>
          <a:bodyPr wrap="square" rtlCol="0">
            <a:spAutoFit/>
          </a:bodyPr>
          <a:lstStyle/>
          <a:p>
            <a:r>
              <a:rPr lang="en-ZA" b="1" dirty="0">
                <a:latin typeface="Aptos" panose="020B0004020202020204" pitchFamily="34" charset="0"/>
              </a:rPr>
              <a:t>BEFORE:</a:t>
            </a:r>
          </a:p>
        </p:txBody>
      </p:sp>
      <p:sp>
        <p:nvSpPr>
          <p:cNvPr id="15" name="TextBox 14">
            <a:extLst>
              <a:ext uri="{FF2B5EF4-FFF2-40B4-BE49-F238E27FC236}">
                <a16:creationId xmlns:a16="http://schemas.microsoft.com/office/drawing/2014/main" id="{6B1296FF-F384-32D3-0E94-14AB1BF937FC}"/>
              </a:ext>
            </a:extLst>
          </p:cNvPr>
          <p:cNvSpPr txBox="1"/>
          <p:nvPr/>
        </p:nvSpPr>
        <p:spPr>
          <a:xfrm>
            <a:off x="11000914" y="3709841"/>
            <a:ext cx="1226981" cy="381964"/>
          </a:xfrm>
          <a:prstGeom prst="rect">
            <a:avLst/>
          </a:prstGeom>
          <a:noFill/>
        </p:spPr>
        <p:txBody>
          <a:bodyPr wrap="square" rtlCol="0">
            <a:spAutoFit/>
          </a:bodyPr>
          <a:lstStyle/>
          <a:p>
            <a:r>
              <a:rPr lang="en-ZA" b="1" dirty="0">
                <a:latin typeface="Aptos" panose="020B0004020202020204" pitchFamily="34" charset="0"/>
              </a:rPr>
              <a:t>AFTER:</a:t>
            </a:r>
          </a:p>
        </p:txBody>
      </p:sp>
    </p:spTree>
    <p:extLst>
      <p:ext uri="{BB962C8B-B14F-4D97-AF65-F5344CB8AC3E}">
        <p14:creationId xmlns:p14="http://schemas.microsoft.com/office/powerpoint/2010/main" val="2411858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30722A-EB76-5672-A584-5570E6297E83}"/>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3277"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AB9E58-4F38-93EB-F848-E4E2EF24A925}"/>
              </a:ext>
            </a:extLst>
          </p:cNvPr>
          <p:cNvSpPr>
            <a:spLocks noGrp="1"/>
          </p:cNvSpPr>
          <p:nvPr>
            <p:ph type="title"/>
          </p:nvPr>
        </p:nvSpPr>
        <p:spPr>
          <a:xfrm>
            <a:off x="1757365" y="909637"/>
            <a:ext cx="4397556" cy="1316736"/>
          </a:xfrm>
        </p:spPr>
        <p:txBody>
          <a:bodyPr>
            <a:normAutofit/>
          </a:bodyPr>
          <a:lstStyle/>
          <a:p>
            <a:pPr>
              <a:lnSpc>
                <a:spcPct val="90000"/>
              </a:lnSpc>
            </a:pPr>
            <a:r>
              <a:rPr lang="en-GB" sz="2200" dirty="0">
                <a:latin typeface="Aptos Black" panose="020F0502020204030204" pitchFamily="34" charset="0"/>
              </a:rPr>
              <a:t>Fix 2: Implemented in Part 3, Unit Testing &amp; Error Handling</a:t>
            </a:r>
            <a:br>
              <a:rPr lang="en-GB" sz="2200" dirty="0"/>
            </a:br>
            <a:endParaRPr lang="en-ZA" sz="2200" dirty="0"/>
          </a:p>
        </p:txBody>
      </p:sp>
      <p:cxnSp>
        <p:nvCxnSpPr>
          <p:cNvPr id="106" name="Straight Connector 105">
            <a:extLst>
              <a:ext uri="{FF2B5EF4-FFF2-40B4-BE49-F238E27FC236}">
                <a16:creationId xmlns:a16="http://schemas.microsoft.com/office/drawing/2014/main" id="{1DC20223-0542-4FF7-8F2F-136889161E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53377"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Content Placeholder 2">
            <a:extLst>
              <a:ext uri="{FF2B5EF4-FFF2-40B4-BE49-F238E27FC236}">
                <a16:creationId xmlns:a16="http://schemas.microsoft.com/office/drawing/2014/main" id="{B2EE771F-0381-CE3C-41C9-28F6B1A8146D}"/>
              </a:ext>
            </a:extLst>
          </p:cNvPr>
          <p:cNvSpPr>
            <a:spLocks noGrp="1"/>
          </p:cNvSpPr>
          <p:nvPr>
            <p:ph idx="1"/>
          </p:nvPr>
        </p:nvSpPr>
        <p:spPr>
          <a:xfrm>
            <a:off x="1757365" y="2226373"/>
            <a:ext cx="4397554" cy="3983928"/>
          </a:xfrm>
        </p:spPr>
        <p:txBody>
          <a:bodyPr>
            <a:normAutofit lnSpcReduction="10000"/>
          </a:bodyPr>
          <a:lstStyle/>
          <a:p>
            <a:pPr marL="0" indent="0">
              <a:lnSpc>
                <a:spcPct val="100000"/>
              </a:lnSpc>
              <a:buNone/>
            </a:pPr>
            <a:r>
              <a:rPr lang="en-GB" sz="1400" dirty="0">
                <a:latin typeface="Aptos" panose="020B0004020202020204" pitchFamily="34" charset="0"/>
              </a:rPr>
              <a:t>In Part 3, several key improvements were made to enhance the system's reliability and user experience:</a:t>
            </a:r>
          </a:p>
          <a:p>
            <a:pPr marL="0" indent="0">
              <a:lnSpc>
                <a:spcPct val="100000"/>
              </a:lnSpc>
              <a:buNone/>
            </a:pPr>
            <a:r>
              <a:rPr lang="en-GB" sz="1400" b="1" dirty="0">
                <a:latin typeface="Aptos" panose="020B0004020202020204" pitchFamily="34" charset="0"/>
              </a:rPr>
              <a:t>Additional unit tests </a:t>
            </a:r>
            <a:r>
              <a:rPr lang="en-GB" sz="1400" dirty="0">
                <a:latin typeface="Aptos" panose="020B0004020202020204" pitchFamily="34" charset="0"/>
              </a:rPr>
              <a:t>were added to cover more functionalities, including the claim total calculation and HR LINQ queries, ensuring that all critical processes are properly tested</a:t>
            </a:r>
            <a:r>
              <a:rPr lang="en-GB" sz="1400" b="1" dirty="0">
                <a:latin typeface="Aptos" panose="020B0004020202020204" pitchFamily="34" charset="0"/>
              </a:rPr>
              <a:t>.</a:t>
            </a:r>
            <a:r>
              <a:rPr lang="en-GB" sz="1400" dirty="0">
                <a:latin typeface="Aptos" panose="020B0004020202020204" pitchFamily="34" charset="0"/>
              </a:rPr>
              <a:t>. Additionally, error handling was integrated around critical processes, such as </a:t>
            </a:r>
            <a:r>
              <a:rPr lang="en-GB" sz="1400" b="1" dirty="0">
                <a:latin typeface="Aptos" panose="020B0004020202020204" pitchFamily="34" charset="0"/>
              </a:rPr>
              <a:t>claim creation and file upload</a:t>
            </a:r>
            <a:r>
              <a:rPr lang="en-GB" sz="1400" dirty="0">
                <a:latin typeface="Aptos" panose="020B0004020202020204" pitchFamily="34" charset="0"/>
              </a:rPr>
              <a:t>, to catch and display meaningful error messages. This improves system robustness and ensures users are informed of any issues.</a:t>
            </a:r>
          </a:p>
          <a:p>
            <a:pPr marL="0" indent="0">
              <a:lnSpc>
                <a:spcPct val="100000"/>
              </a:lnSpc>
              <a:buNone/>
            </a:pPr>
            <a:r>
              <a:rPr lang="en-GB" sz="1400" dirty="0">
                <a:latin typeface="Aptos" panose="020B0004020202020204" pitchFamily="34" charset="0"/>
              </a:rPr>
              <a:t> </a:t>
            </a:r>
            <a:r>
              <a:rPr lang="en-GB" sz="1400" b="1" dirty="0">
                <a:latin typeface="Aptos" panose="020B0004020202020204" pitchFamily="34" charset="0"/>
              </a:rPr>
              <a:t>The UI </a:t>
            </a:r>
            <a:r>
              <a:rPr lang="en-GB" sz="1400" dirty="0">
                <a:latin typeface="Aptos" panose="020B0004020202020204" pitchFamily="34" charset="0"/>
              </a:rPr>
              <a:t>was also updated to </a:t>
            </a:r>
            <a:r>
              <a:rPr lang="en-GB" sz="1400" b="1" dirty="0">
                <a:latin typeface="Aptos" panose="020B0004020202020204" pitchFamily="34" charset="0"/>
              </a:rPr>
              <a:t>display validation messages </a:t>
            </a:r>
            <a:r>
              <a:rPr lang="en-GB" sz="1400" dirty="0">
                <a:latin typeface="Aptos" panose="020B0004020202020204" pitchFamily="34" charset="0"/>
              </a:rPr>
              <a:t>for invalid files or missing values, contributing to a more user-friendly experience. These updates fully meet the rubric requirement for effective unit testing and error handling.</a:t>
            </a:r>
            <a:endParaRPr lang="en-GB" sz="1400" dirty="0"/>
          </a:p>
          <a:p>
            <a:pPr marL="0" indent="0">
              <a:lnSpc>
                <a:spcPct val="100000"/>
              </a:lnSpc>
              <a:buNone/>
            </a:pPr>
            <a:br>
              <a:rPr lang="en-GB" sz="1300" dirty="0"/>
            </a:br>
            <a:endParaRPr lang="en-ZA" sz="1300" dirty="0"/>
          </a:p>
        </p:txBody>
      </p:sp>
      <p:pic>
        <p:nvPicPr>
          <p:cNvPr id="14" name="Picture 13" descr="A black rectangular object with a white line&#10;&#10;AI-generated content may be incorrect.">
            <a:extLst>
              <a:ext uri="{FF2B5EF4-FFF2-40B4-BE49-F238E27FC236}">
                <a16:creationId xmlns:a16="http://schemas.microsoft.com/office/drawing/2014/main" id="{41F755FF-3C71-2816-B471-A7CB2FA72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5905" y="4427095"/>
            <a:ext cx="6686340" cy="1886894"/>
          </a:xfrm>
          <a:prstGeom prst="rect">
            <a:avLst/>
          </a:prstGeom>
        </p:spPr>
      </p:pic>
      <p:pic>
        <p:nvPicPr>
          <p:cNvPr id="6" name="Picture 5">
            <a:extLst>
              <a:ext uri="{FF2B5EF4-FFF2-40B4-BE49-F238E27FC236}">
                <a16:creationId xmlns:a16="http://schemas.microsoft.com/office/drawing/2014/main" id="{0AC628D3-2295-6306-8AEB-ED4103E95306}"/>
              </a:ext>
            </a:extLst>
          </p:cNvPr>
          <p:cNvPicPr>
            <a:picLocks noChangeAspect="1"/>
          </p:cNvPicPr>
          <p:nvPr/>
        </p:nvPicPr>
        <p:blipFill>
          <a:blip r:embed="rId4"/>
          <a:stretch>
            <a:fillRect/>
          </a:stretch>
        </p:blipFill>
        <p:spPr>
          <a:xfrm>
            <a:off x="7279906" y="723900"/>
            <a:ext cx="4678335" cy="1824551"/>
          </a:xfrm>
          <a:prstGeom prst="rect">
            <a:avLst/>
          </a:prstGeom>
        </p:spPr>
      </p:pic>
      <p:pic>
        <p:nvPicPr>
          <p:cNvPr id="8" name="Picture 7">
            <a:extLst>
              <a:ext uri="{FF2B5EF4-FFF2-40B4-BE49-F238E27FC236}">
                <a16:creationId xmlns:a16="http://schemas.microsoft.com/office/drawing/2014/main" id="{80194EA1-62B8-7098-DCB1-28A11D0B0C09}"/>
              </a:ext>
            </a:extLst>
          </p:cNvPr>
          <p:cNvPicPr>
            <a:picLocks noChangeAspect="1"/>
          </p:cNvPicPr>
          <p:nvPr/>
        </p:nvPicPr>
        <p:blipFill>
          <a:blip r:embed="rId5"/>
          <a:stretch>
            <a:fillRect/>
          </a:stretch>
        </p:blipFill>
        <p:spPr>
          <a:xfrm>
            <a:off x="6780624" y="2989229"/>
            <a:ext cx="5676901" cy="1050226"/>
          </a:xfrm>
          <a:prstGeom prst="rect">
            <a:avLst/>
          </a:prstGeom>
        </p:spPr>
      </p:pic>
      <p:pic>
        <p:nvPicPr>
          <p:cNvPr id="5" name="Picture 4" descr="A green square with white text&#10;&#10;AI-generated content may be incorrect.">
            <a:extLst>
              <a:ext uri="{FF2B5EF4-FFF2-40B4-BE49-F238E27FC236}">
                <a16:creationId xmlns:a16="http://schemas.microsoft.com/office/drawing/2014/main" id="{39CE216B-A41F-C13F-B58D-6E64146ABDCA}"/>
              </a:ext>
            </a:extLst>
          </p:cNvPr>
          <p:cNvPicPr>
            <a:picLocks noChangeAspect="1"/>
          </p:cNvPicPr>
          <p:nvPr/>
        </p:nvPicPr>
        <p:blipFill>
          <a:blip r:embed="rId6">
            <a:extLst>
              <a:ext uri="{28A0092B-C50C-407E-A947-70E740481C1C}">
                <a14:useLocalDpi xmlns:a14="http://schemas.microsoft.com/office/drawing/2010/main" val="0"/>
              </a:ext>
            </a:extLst>
          </a:blip>
          <a:srcRect l="37953" r="37953"/>
          <a:stretch/>
        </p:blipFill>
        <p:spPr>
          <a:xfrm>
            <a:off x="19" y="-1"/>
            <a:ext cx="1238472" cy="6858001"/>
          </a:xfrm>
          <a:prstGeom prst="rect">
            <a:avLst/>
          </a:prstGeom>
        </p:spPr>
      </p:pic>
    </p:spTree>
    <p:extLst>
      <p:ext uri="{BB962C8B-B14F-4D97-AF65-F5344CB8AC3E}">
        <p14:creationId xmlns:p14="http://schemas.microsoft.com/office/powerpoint/2010/main" val="3578399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E07130-5079-DF65-F9A0-9AC6155D0F2F}"/>
            </a:ext>
          </a:extLst>
        </p:cNvPr>
        <p:cNvGrpSpPr/>
        <p:nvPr/>
      </p:nvGrpSpPr>
      <p:grpSpPr>
        <a:xfrm>
          <a:off x="0" y="0"/>
          <a:ext cx="0" cy="0"/>
          <a:chOff x="0" y="0"/>
          <a:chExt cx="0" cy="0"/>
        </a:xfrm>
      </p:grpSpPr>
      <p:sp useBgFill="1">
        <p:nvSpPr>
          <p:cNvPr id="121" name="Rectangle 120">
            <a:extLst>
              <a:ext uri="{FF2B5EF4-FFF2-40B4-BE49-F238E27FC236}">
                <a16:creationId xmlns:a16="http://schemas.microsoft.com/office/drawing/2014/main" id="{4109E738-3B9E-4529-9D47-C9708D612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3847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E359C2-B615-8AAF-5690-4639CFF85653}"/>
              </a:ext>
            </a:extLst>
          </p:cNvPr>
          <p:cNvSpPr>
            <a:spLocks noGrp="1"/>
          </p:cNvSpPr>
          <p:nvPr>
            <p:ph type="title"/>
          </p:nvPr>
        </p:nvSpPr>
        <p:spPr>
          <a:xfrm>
            <a:off x="1942558" y="610738"/>
            <a:ext cx="2932736" cy="3515588"/>
          </a:xfrm>
        </p:spPr>
        <p:txBody>
          <a:bodyPr>
            <a:normAutofit/>
          </a:bodyPr>
          <a:lstStyle/>
          <a:p>
            <a:pPr>
              <a:lnSpc>
                <a:spcPct val="90000"/>
              </a:lnSpc>
            </a:pPr>
            <a:r>
              <a:rPr lang="en-GB" sz="2500" b="1" u="sng" dirty="0">
                <a:latin typeface="Aptos Black" panose="020F0502020204030204" pitchFamily="34" charset="0"/>
              </a:rPr>
              <a:t>PART 3 FEATURES:</a:t>
            </a:r>
            <a:br>
              <a:rPr lang="en-GB" sz="2500" dirty="0">
                <a:latin typeface="Aptos Black" panose="020F0502020204030204" pitchFamily="34" charset="0"/>
              </a:rPr>
            </a:br>
            <a:br>
              <a:rPr lang="en-GB" sz="2500" dirty="0">
                <a:latin typeface="Aptos Black" panose="020F0502020204030204" pitchFamily="34" charset="0"/>
              </a:rPr>
            </a:br>
            <a:br>
              <a:rPr lang="en-GB" sz="2500" dirty="0">
                <a:latin typeface="Aptos Black" panose="020F0502020204030204" pitchFamily="34" charset="0"/>
              </a:rPr>
            </a:br>
            <a:r>
              <a:rPr lang="en-GB" sz="2500" b="1" u="sng" dirty="0">
                <a:latin typeface="Aptos Black" panose="020F0502020204030204" pitchFamily="34" charset="0"/>
              </a:rPr>
              <a:t>FEATURE 1: </a:t>
            </a:r>
            <a:r>
              <a:rPr lang="en-GB" sz="2500" dirty="0">
                <a:latin typeface="Aptos Black" panose="020F0502020204030204" pitchFamily="34" charset="0"/>
              </a:rPr>
              <a:t>AUTOMATED CLAIM SUBMISSION</a:t>
            </a:r>
            <a:br>
              <a:rPr lang="en-GB" sz="2500" dirty="0">
                <a:latin typeface="Aptos Black" panose="020F0502020204030204" pitchFamily="34" charset="0"/>
              </a:rPr>
            </a:br>
            <a:endParaRPr lang="en-ZA" sz="2500" dirty="0"/>
          </a:p>
        </p:txBody>
      </p:sp>
      <p:cxnSp>
        <p:nvCxnSpPr>
          <p:cNvPr id="122" name="Straight Connector 121">
            <a:extLst>
              <a:ext uri="{FF2B5EF4-FFF2-40B4-BE49-F238E27FC236}">
                <a16:creationId xmlns:a16="http://schemas.microsoft.com/office/drawing/2014/main" id="{4CDE69BD-5C6A-4086-B43B-2E48E20AB7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00423" y="723900"/>
            <a:ext cx="0" cy="3233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Content Placeholder 2">
            <a:extLst>
              <a:ext uri="{FF2B5EF4-FFF2-40B4-BE49-F238E27FC236}">
                <a16:creationId xmlns:a16="http://schemas.microsoft.com/office/drawing/2014/main" id="{A4247223-7FFE-E3C4-B164-A5B907A5DAF0}"/>
              </a:ext>
            </a:extLst>
          </p:cNvPr>
          <p:cNvSpPr>
            <a:spLocks noGrp="1"/>
          </p:cNvSpPr>
          <p:nvPr>
            <p:ph idx="1"/>
          </p:nvPr>
        </p:nvSpPr>
        <p:spPr>
          <a:xfrm>
            <a:off x="5544658" y="610738"/>
            <a:ext cx="7216449" cy="3515588"/>
          </a:xfrm>
        </p:spPr>
        <p:txBody>
          <a:bodyPr>
            <a:normAutofit/>
          </a:bodyPr>
          <a:lstStyle/>
          <a:p>
            <a:pPr marL="0" indent="0">
              <a:buNone/>
            </a:pPr>
            <a:r>
              <a:rPr lang="en-GB" sz="1600" dirty="0">
                <a:latin typeface="Aptos" panose="020B0004020202020204" pitchFamily="34" charset="0"/>
              </a:rPr>
              <a:t>In Part 3, the Lecturer's </a:t>
            </a:r>
            <a:r>
              <a:rPr lang="en-GB" sz="1600" b="1" dirty="0">
                <a:latin typeface="Aptos" panose="020B0004020202020204" pitchFamily="34" charset="0"/>
              </a:rPr>
              <a:t>claim submission </a:t>
            </a:r>
            <a:r>
              <a:rPr lang="en-GB" sz="1600" dirty="0">
                <a:latin typeface="Aptos" panose="020B0004020202020204" pitchFamily="34" charset="0"/>
              </a:rPr>
              <a:t>process was </a:t>
            </a:r>
            <a:r>
              <a:rPr lang="en-GB" sz="1600" b="1" dirty="0">
                <a:latin typeface="Aptos" panose="020B0004020202020204" pitchFamily="34" charset="0"/>
              </a:rPr>
              <a:t>automated</a:t>
            </a:r>
            <a:r>
              <a:rPr lang="en-GB" sz="1600" dirty="0">
                <a:latin typeface="Aptos" panose="020B0004020202020204" pitchFamily="34" charset="0"/>
              </a:rPr>
              <a:t>. The Lecturer's name, surname, and hourly rate are auto-filled from HR data when the Lecturer logs in, streamlining the claim submission. The hours worked are manually entered by the Lecturer, and the claim total is automatically calculated based on the hourly rate. </a:t>
            </a:r>
            <a:r>
              <a:rPr lang="en-GB" sz="1600" b="1" dirty="0">
                <a:latin typeface="Aptos" panose="020B0004020202020204" pitchFamily="34" charset="0"/>
              </a:rPr>
              <a:t>Validation </a:t>
            </a:r>
            <a:r>
              <a:rPr lang="en-GB" sz="1600" dirty="0">
                <a:latin typeface="Aptos" panose="020B0004020202020204" pitchFamily="34" charset="0"/>
              </a:rPr>
              <a:t>ensures that only valid data is submitted, preventing errors during claim creation.</a:t>
            </a:r>
            <a:br>
              <a:rPr lang="en-GB" dirty="0"/>
            </a:br>
            <a:endParaRPr lang="en-ZA" dirty="0"/>
          </a:p>
        </p:txBody>
      </p:sp>
      <p:pic>
        <p:nvPicPr>
          <p:cNvPr id="4" name="Picture 3">
            <a:extLst>
              <a:ext uri="{FF2B5EF4-FFF2-40B4-BE49-F238E27FC236}">
                <a16:creationId xmlns:a16="http://schemas.microsoft.com/office/drawing/2014/main" id="{EBC58148-647B-CAD9-9372-36CDF529DC42}"/>
              </a:ext>
            </a:extLst>
          </p:cNvPr>
          <p:cNvPicPr>
            <a:picLocks noChangeAspect="1"/>
          </p:cNvPicPr>
          <p:nvPr/>
        </p:nvPicPr>
        <p:blipFill>
          <a:blip r:embed="rId3"/>
          <a:stretch>
            <a:fillRect/>
          </a:stretch>
        </p:blipFill>
        <p:spPr>
          <a:xfrm>
            <a:off x="5654356" y="4342420"/>
            <a:ext cx="2460911" cy="2405541"/>
          </a:xfrm>
          <a:prstGeom prst="rect">
            <a:avLst/>
          </a:prstGeom>
        </p:spPr>
      </p:pic>
      <p:pic>
        <p:nvPicPr>
          <p:cNvPr id="11" name="Picture 10">
            <a:extLst>
              <a:ext uri="{FF2B5EF4-FFF2-40B4-BE49-F238E27FC236}">
                <a16:creationId xmlns:a16="http://schemas.microsoft.com/office/drawing/2014/main" id="{5424A844-6D43-1A09-8C90-3A180962A6A6}"/>
              </a:ext>
            </a:extLst>
          </p:cNvPr>
          <p:cNvPicPr>
            <a:picLocks noChangeAspect="1"/>
          </p:cNvPicPr>
          <p:nvPr/>
        </p:nvPicPr>
        <p:blipFill>
          <a:blip r:embed="rId4"/>
          <a:stretch>
            <a:fillRect/>
          </a:stretch>
        </p:blipFill>
        <p:spPr>
          <a:xfrm>
            <a:off x="8633955" y="4399326"/>
            <a:ext cx="3558045" cy="2221837"/>
          </a:xfrm>
          <a:prstGeom prst="rect">
            <a:avLst/>
          </a:prstGeom>
        </p:spPr>
      </p:pic>
      <p:pic>
        <p:nvPicPr>
          <p:cNvPr id="9" name="Picture 8">
            <a:extLst>
              <a:ext uri="{FF2B5EF4-FFF2-40B4-BE49-F238E27FC236}">
                <a16:creationId xmlns:a16="http://schemas.microsoft.com/office/drawing/2014/main" id="{8D4A5E50-5DEA-C63A-BDF3-A4EACEC90E69}"/>
              </a:ext>
            </a:extLst>
          </p:cNvPr>
          <p:cNvPicPr>
            <a:picLocks noChangeAspect="1"/>
          </p:cNvPicPr>
          <p:nvPr/>
        </p:nvPicPr>
        <p:blipFill>
          <a:blip r:embed="rId5"/>
          <a:srcRect t="12426"/>
          <a:stretch>
            <a:fillRect/>
          </a:stretch>
        </p:blipFill>
        <p:spPr>
          <a:xfrm>
            <a:off x="6673511" y="2666644"/>
            <a:ext cx="4958740" cy="716521"/>
          </a:xfrm>
          <a:prstGeom prst="rect">
            <a:avLst/>
          </a:prstGeom>
        </p:spPr>
      </p:pic>
      <p:pic>
        <p:nvPicPr>
          <p:cNvPr id="13" name="Picture 12">
            <a:extLst>
              <a:ext uri="{FF2B5EF4-FFF2-40B4-BE49-F238E27FC236}">
                <a16:creationId xmlns:a16="http://schemas.microsoft.com/office/drawing/2014/main" id="{7E82103E-0EA2-ADB5-1F58-08CBBA44142D}"/>
              </a:ext>
            </a:extLst>
          </p:cNvPr>
          <p:cNvPicPr>
            <a:picLocks noChangeAspect="1"/>
          </p:cNvPicPr>
          <p:nvPr/>
        </p:nvPicPr>
        <p:blipFill>
          <a:blip r:embed="rId6"/>
          <a:stretch>
            <a:fillRect/>
          </a:stretch>
        </p:blipFill>
        <p:spPr>
          <a:xfrm>
            <a:off x="6884811" y="3568966"/>
            <a:ext cx="4536139" cy="612379"/>
          </a:xfrm>
          <a:prstGeom prst="rect">
            <a:avLst/>
          </a:prstGeom>
        </p:spPr>
      </p:pic>
      <p:pic>
        <p:nvPicPr>
          <p:cNvPr id="5" name="Picture 4" descr="A green square with white text&#10;&#10;AI-generated content may be incorrect.">
            <a:extLst>
              <a:ext uri="{FF2B5EF4-FFF2-40B4-BE49-F238E27FC236}">
                <a16:creationId xmlns:a16="http://schemas.microsoft.com/office/drawing/2014/main" id="{FE5AD1DE-A992-149D-DFBB-5A5CBA4D978C}"/>
              </a:ext>
            </a:extLst>
          </p:cNvPr>
          <p:cNvPicPr>
            <a:picLocks noChangeAspect="1"/>
          </p:cNvPicPr>
          <p:nvPr/>
        </p:nvPicPr>
        <p:blipFill>
          <a:blip r:embed="rId7">
            <a:extLst>
              <a:ext uri="{28A0092B-C50C-407E-A947-70E740481C1C}">
                <a14:useLocalDpi xmlns:a14="http://schemas.microsoft.com/office/drawing/2010/main" val="0"/>
              </a:ext>
            </a:extLst>
          </a:blip>
          <a:srcRect l="37953" r="37953"/>
          <a:stretch/>
        </p:blipFill>
        <p:spPr>
          <a:xfrm>
            <a:off x="19" y="-1"/>
            <a:ext cx="1238472" cy="6858001"/>
          </a:xfrm>
          <a:prstGeom prst="rect">
            <a:avLst/>
          </a:prstGeom>
        </p:spPr>
      </p:pic>
    </p:spTree>
    <p:extLst>
      <p:ext uri="{BB962C8B-B14F-4D97-AF65-F5344CB8AC3E}">
        <p14:creationId xmlns:p14="http://schemas.microsoft.com/office/powerpoint/2010/main" val="75298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06445F-D604-39B4-55BC-9062410167B5}"/>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3847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E3F2A9-C9BE-205E-A104-E87F5CF0158B}"/>
              </a:ext>
            </a:extLst>
          </p:cNvPr>
          <p:cNvSpPr>
            <a:spLocks noGrp="1"/>
          </p:cNvSpPr>
          <p:nvPr>
            <p:ph type="title"/>
          </p:nvPr>
        </p:nvSpPr>
        <p:spPr>
          <a:xfrm>
            <a:off x="1938559" y="909637"/>
            <a:ext cx="6283419" cy="1316736"/>
          </a:xfrm>
        </p:spPr>
        <p:txBody>
          <a:bodyPr vert="horz" lIns="91440" tIns="45720" rIns="91440" bIns="45720" rtlCol="0" anchor="t">
            <a:normAutofit/>
          </a:bodyPr>
          <a:lstStyle/>
          <a:p>
            <a:pPr>
              <a:lnSpc>
                <a:spcPct val="90000"/>
              </a:lnSpc>
            </a:pPr>
            <a:r>
              <a:rPr lang="en-US" sz="2200" b="1" u="sng" dirty="0">
                <a:latin typeface="Aptos Black" panose="020B0004020202020204" pitchFamily="34" charset="0"/>
              </a:rPr>
              <a:t>FEATURE 2 :</a:t>
            </a:r>
            <a:br>
              <a:rPr lang="en-US" sz="2200" b="1" dirty="0">
                <a:latin typeface="Aptos Black" panose="020B0004020202020204" pitchFamily="34" charset="0"/>
              </a:rPr>
            </a:br>
            <a:br>
              <a:rPr lang="en-US" sz="2200" b="1" dirty="0">
                <a:latin typeface="Aptos Black" panose="020B0004020202020204" pitchFamily="34" charset="0"/>
              </a:rPr>
            </a:br>
            <a:r>
              <a:rPr lang="en-US" sz="2200" b="1" dirty="0">
                <a:latin typeface="Aptos Black" panose="020B0004020202020204" pitchFamily="34" charset="0"/>
              </a:rPr>
              <a:t>COORDINATOR  APPROVAL WORKFLOW</a:t>
            </a:r>
            <a:br>
              <a:rPr lang="en-US" sz="2200" dirty="0"/>
            </a:br>
            <a:endParaRPr lang="en-US" sz="2200" dirty="0"/>
          </a:p>
        </p:txBody>
      </p:sp>
      <p:cxnSp>
        <p:nvCxnSpPr>
          <p:cNvPr id="146" name="Straight Connector 145">
            <a:extLst>
              <a:ext uri="{FF2B5EF4-FFF2-40B4-BE49-F238E27FC236}">
                <a16:creationId xmlns:a16="http://schemas.microsoft.com/office/drawing/2014/main" id="{9AEDDB4C-6582-43D5-AF25-99F4AD3A1B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4">
            <a:extLst>
              <a:ext uri="{FF2B5EF4-FFF2-40B4-BE49-F238E27FC236}">
                <a16:creationId xmlns:a16="http://schemas.microsoft.com/office/drawing/2014/main" id="{68B6E2AB-BC56-E317-2F8F-B9FDDD6BF541}"/>
              </a:ext>
            </a:extLst>
          </p:cNvPr>
          <p:cNvSpPr>
            <a:spLocks noChangeArrowheads="1"/>
          </p:cNvSpPr>
          <p:nvPr/>
        </p:nvSpPr>
        <p:spPr bwMode="auto">
          <a:xfrm>
            <a:off x="1938559" y="2226373"/>
            <a:ext cx="6283419" cy="372199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110000"/>
              </a:lnSpc>
              <a:spcBef>
                <a:spcPct val="0"/>
              </a:spcBef>
              <a:spcAft>
                <a:spcPts val="600"/>
              </a:spcAft>
              <a:buClrTx/>
              <a:buSzTx/>
              <a:tabLst/>
            </a:pPr>
            <a:r>
              <a:rPr kumimoji="0" lang="en-US" altLang="en-US" i="0" u="none" strike="noStrike" cap="none" normalizeH="0" baseline="0" dirty="0">
                <a:ln>
                  <a:noFill/>
                </a:ln>
                <a:effectLst/>
                <a:latin typeface="Aptos" panose="020B0004020202020204" pitchFamily="34" charset="0"/>
              </a:rPr>
              <a:t>In </a:t>
            </a:r>
            <a:r>
              <a:rPr kumimoji="0" lang="en-US" altLang="en-US" b="1" i="0" u="none" strike="noStrike" cap="none" normalizeH="0" baseline="0" dirty="0">
                <a:ln>
                  <a:noFill/>
                </a:ln>
                <a:effectLst/>
                <a:latin typeface="Aptos" panose="020B0004020202020204" pitchFamily="34" charset="0"/>
              </a:rPr>
              <a:t>Part 3</a:t>
            </a:r>
            <a:r>
              <a:rPr kumimoji="0" lang="en-US" altLang="en-US" i="0" u="none" strike="noStrike" cap="none" normalizeH="0" baseline="0" dirty="0">
                <a:ln>
                  <a:noFill/>
                </a:ln>
                <a:effectLst/>
                <a:latin typeface="Aptos" panose="020B0004020202020204" pitchFamily="34" charset="0"/>
              </a:rPr>
              <a:t>, the Coordinator approval process is triggered only if the claim's hours fall outside the defined range of 40 to 180 hours. If the Lecturer’s claim hours are within this range, </a:t>
            </a:r>
            <a:r>
              <a:rPr kumimoji="0" lang="en-US" altLang="en-US" b="1" i="0" u="none" strike="noStrike" cap="none" normalizeH="0" baseline="0" dirty="0">
                <a:ln>
                  <a:noFill/>
                </a:ln>
                <a:effectLst/>
                <a:latin typeface="Aptos" panose="020B0004020202020204" pitchFamily="34" charset="0"/>
              </a:rPr>
              <a:t>the claim is automatically approved</a:t>
            </a:r>
            <a:r>
              <a:rPr kumimoji="0" lang="en-US" altLang="en-US" i="0" u="none" strike="noStrike" cap="none" normalizeH="0" baseline="0" dirty="0">
                <a:ln>
                  <a:noFill/>
                </a:ln>
                <a:effectLst/>
                <a:latin typeface="Aptos" panose="020B0004020202020204" pitchFamily="34" charset="0"/>
              </a:rPr>
              <a:t>. </a:t>
            </a:r>
            <a:r>
              <a:rPr kumimoji="0" lang="en-US" altLang="en-US" b="1" i="0" u="none" strike="noStrike" cap="none" normalizeH="0" baseline="0" dirty="0">
                <a:ln>
                  <a:noFill/>
                </a:ln>
                <a:effectLst/>
                <a:latin typeface="Aptos" panose="020B0004020202020204" pitchFamily="34" charset="0"/>
              </a:rPr>
              <a:t>If the hours fall outside this range, </a:t>
            </a:r>
            <a:r>
              <a:rPr kumimoji="0" lang="en-US" altLang="en-US" i="0" u="none" strike="noStrike" cap="none" normalizeH="0" baseline="0" dirty="0">
                <a:ln>
                  <a:noFill/>
                </a:ln>
                <a:effectLst/>
                <a:latin typeface="Aptos" panose="020B0004020202020204" pitchFamily="34" charset="0"/>
              </a:rPr>
              <a:t>the claim is sent to the Coordinator for approval or rejection. Once the Coordinator approves or rejects the claim, the status is automatically updated, and a success message is displayed using </a:t>
            </a:r>
            <a:r>
              <a:rPr kumimoji="0" lang="en-US" altLang="en-US" i="0" u="none" strike="noStrike" cap="none" normalizeH="0" baseline="0" dirty="0" err="1">
                <a:ln>
                  <a:noFill/>
                </a:ln>
                <a:effectLst/>
                <a:latin typeface="Aptos" panose="020B0004020202020204" pitchFamily="34" charset="0"/>
              </a:rPr>
              <a:t>TempData</a:t>
            </a:r>
            <a:r>
              <a:rPr kumimoji="0" lang="en-US" altLang="en-US" i="0" u="none" strike="noStrike" cap="none" normalizeH="0" baseline="0" dirty="0">
                <a:ln>
                  <a:noFill/>
                </a:ln>
                <a:effectLst/>
                <a:latin typeface="Aptos" panose="020B0004020202020204" pitchFamily="34" charset="0"/>
              </a:rPr>
              <a:t>.</a:t>
            </a:r>
          </a:p>
        </p:txBody>
      </p:sp>
      <p:cxnSp>
        <p:nvCxnSpPr>
          <p:cNvPr id="147" name="Straight Connector 146">
            <a:extLst>
              <a:ext uri="{FF2B5EF4-FFF2-40B4-BE49-F238E27FC236}">
                <a16:creationId xmlns:a16="http://schemas.microsoft.com/office/drawing/2014/main" id="{AB152A91-2920-4848-A8BC-B15DA324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green square with white text&#10;&#10;AI-generated content may be incorrect.">
            <a:extLst>
              <a:ext uri="{FF2B5EF4-FFF2-40B4-BE49-F238E27FC236}">
                <a16:creationId xmlns:a16="http://schemas.microsoft.com/office/drawing/2014/main" id="{84BAB887-BF6F-603F-B761-4412BA9FB79B}"/>
              </a:ext>
            </a:extLst>
          </p:cNvPr>
          <p:cNvPicPr>
            <a:picLocks noChangeAspect="1"/>
          </p:cNvPicPr>
          <p:nvPr/>
        </p:nvPicPr>
        <p:blipFill>
          <a:blip r:embed="rId3">
            <a:extLst>
              <a:ext uri="{28A0092B-C50C-407E-A947-70E740481C1C}">
                <a14:useLocalDpi xmlns:a14="http://schemas.microsoft.com/office/drawing/2010/main" val="0"/>
              </a:ext>
            </a:extLst>
          </a:blip>
          <a:srcRect l="37953" r="37953"/>
          <a:stretch/>
        </p:blipFill>
        <p:spPr>
          <a:xfrm>
            <a:off x="19" y="-1"/>
            <a:ext cx="1238472" cy="6858001"/>
          </a:xfrm>
          <a:prstGeom prst="rect">
            <a:avLst/>
          </a:prstGeom>
        </p:spPr>
      </p:pic>
      <p:pic>
        <p:nvPicPr>
          <p:cNvPr id="21" name="Picture 20" descr="A computer screen shot of text&#10;&#10;AI-generated content may be incorrect.">
            <a:extLst>
              <a:ext uri="{FF2B5EF4-FFF2-40B4-BE49-F238E27FC236}">
                <a16:creationId xmlns:a16="http://schemas.microsoft.com/office/drawing/2014/main" id="{E65098DC-AD7C-FE37-65A2-DE712D2D11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0036" y="1340084"/>
            <a:ext cx="4070336" cy="1896329"/>
          </a:xfrm>
          <a:prstGeom prst="rect">
            <a:avLst/>
          </a:prstGeom>
        </p:spPr>
      </p:pic>
      <p:pic>
        <p:nvPicPr>
          <p:cNvPr id="23" name="Picture 22" descr="A computer screen with text on it&#10;&#10;AI-generated content may be incorrect.">
            <a:extLst>
              <a:ext uri="{FF2B5EF4-FFF2-40B4-BE49-F238E27FC236}">
                <a16:creationId xmlns:a16="http://schemas.microsoft.com/office/drawing/2014/main" id="{2FDBAAC0-B054-EBA9-23B4-093EF38B47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0036" y="3727147"/>
            <a:ext cx="4151229" cy="1826324"/>
          </a:xfrm>
          <a:prstGeom prst="rect">
            <a:avLst/>
          </a:prstGeom>
        </p:spPr>
      </p:pic>
    </p:spTree>
    <p:extLst>
      <p:ext uri="{BB962C8B-B14F-4D97-AF65-F5344CB8AC3E}">
        <p14:creationId xmlns:p14="http://schemas.microsoft.com/office/powerpoint/2010/main" val="1144047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F6A7D6-FD74-1109-9B4B-B2709A4BB7E7}"/>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A1658FF4-EA89-7895-C5B7-C2B172460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3847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ECDAFC-3018-4DD4-68D1-602D2011AC7C}"/>
              </a:ext>
            </a:extLst>
          </p:cNvPr>
          <p:cNvSpPr>
            <a:spLocks noGrp="1"/>
          </p:cNvSpPr>
          <p:nvPr>
            <p:ph type="title"/>
          </p:nvPr>
        </p:nvSpPr>
        <p:spPr>
          <a:xfrm>
            <a:off x="1938559" y="909637"/>
            <a:ext cx="6283419" cy="1316736"/>
          </a:xfrm>
        </p:spPr>
        <p:txBody>
          <a:bodyPr vert="horz" lIns="91440" tIns="45720" rIns="91440" bIns="45720" rtlCol="0" anchor="t">
            <a:normAutofit/>
          </a:bodyPr>
          <a:lstStyle/>
          <a:p>
            <a:pPr>
              <a:lnSpc>
                <a:spcPct val="90000"/>
              </a:lnSpc>
            </a:pPr>
            <a:r>
              <a:rPr lang="en-GB" sz="2200" b="1" u="sng" dirty="0">
                <a:latin typeface="Aptos Black" panose="020B0004020202020204" pitchFamily="34" charset="0"/>
              </a:rPr>
              <a:t>FEATURE 3:</a:t>
            </a:r>
            <a:br>
              <a:rPr lang="en-GB" sz="2200" b="1" dirty="0">
                <a:latin typeface="Aptos Black" panose="020B0004020202020204" pitchFamily="34" charset="0"/>
              </a:rPr>
            </a:br>
            <a:br>
              <a:rPr lang="en-GB" sz="2200" b="1" dirty="0">
                <a:latin typeface="Aptos Black" panose="020B0004020202020204" pitchFamily="34" charset="0"/>
              </a:rPr>
            </a:br>
            <a:r>
              <a:rPr lang="en-GB" sz="2200" b="1" dirty="0">
                <a:latin typeface="Aptos Black" panose="020B0004020202020204" pitchFamily="34" charset="0"/>
              </a:rPr>
              <a:t> ACADEMIC MANAGER FINAL APPROVAL</a:t>
            </a:r>
            <a:br>
              <a:rPr lang="en-US" sz="2200" dirty="0"/>
            </a:br>
            <a:endParaRPr lang="en-US" sz="2200" dirty="0"/>
          </a:p>
        </p:txBody>
      </p:sp>
      <p:cxnSp>
        <p:nvCxnSpPr>
          <p:cNvPr id="146" name="Straight Connector 145">
            <a:extLst>
              <a:ext uri="{FF2B5EF4-FFF2-40B4-BE49-F238E27FC236}">
                <a16:creationId xmlns:a16="http://schemas.microsoft.com/office/drawing/2014/main" id="{42C56208-6631-20D8-8E53-E89CD11FA2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4">
            <a:extLst>
              <a:ext uri="{FF2B5EF4-FFF2-40B4-BE49-F238E27FC236}">
                <a16:creationId xmlns:a16="http://schemas.microsoft.com/office/drawing/2014/main" id="{273FA4EE-2F48-FE77-6A7B-0F056D02A406}"/>
              </a:ext>
            </a:extLst>
          </p:cNvPr>
          <p:cNvSpPr>
            <a:spLocks noChangeArrowheads="1"/>
          </p:cNvSpPr>
          <p:nvPr/>
        </p:nvSpPr>
        <p:spPr bwMode="auto">
          <a:xfrm>
            <a:off x="1938560" y="2226373"/>
            <a:ext cx="5793330" cy="344521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a:bodyPr>
          <a:lstStyle/>
          <a:p>
            <a:pPr marR="0" lvl="0" fontAlgn="base">
              <a:lnSpc>
                <a:spcPct val="110000"/>
              </a:lnSpc>
              <a:spcBef>
                <a:spcPct val="0"/>
              </a:spcBef>
              <a:spcAft>
                <a:spcPts val="600"/>
              </a:spcAft>
              <a:buClrTx/>
              <a:buSzTx/>
              <a:tabLst/>
            </a:pPr>
            <a:r>
              <a:rPr kumimoji="0" lang="en-GB" altLang="en-US" i="0" u="none" strike="noStrike" cap="none" normalizeH="0" baseline="0" dirty="0">
                <a:ln>
                  <a:noFill/>
                </a:ln>
                <a:effectLst/>
                <a:latin typeface="Aptos" panose="020B0004020202020204" pitchFamily="34" charset="0"/>
              </a:rPr>
              <a:t>The </a:t>
            </a:r>
            <a:r>
              <a:rPr kumimoji="0" lang="en-GB" altLang="en-US" b="1" i="0" u="none" strike="noStrike" cap="none" normalizeH="0" baseline="0" dirty="0">
                <a:ln>
                  <a:noFill/>
                </a:ln>
                <a:effectLst/>
                <a:latin typeface="Aptos" panose="020B0004020202020204" pitchFamily="34" charset="0"/>
              </a:rPr>
              <a:t>Academic Manager </a:t>
            </a:r>
            <a:r>
              <a:rPr kumimoji="0" lang="en-GB" altLang="en-US" i="0" u="none" strike="noStrike" cap="none" normalizeH="0" baseline="0" dirty="0">
                <a:ln>
                  <a:noFill/>
                </a:ln>
                <a:effectLst/>
                <a:latin typeface="Aptos" panose="020B0004020202020204" pitchFamily="34" charset="0"/>
              </a:rPr>
              <a:t>is responsible for verifying claims that have already been approved by the Coordinator. However, this only occurs if the hours fall outside the allowed range. If the claim is within the accepted range, the Academic Manager's approval is skipped.</a:t>
            </a:r>
          </a:p>
          <a:p>
            <a:pPr marR="0" lvl="0" fontAlgn="base">
              <a:lnSpc>
                <a:spcPct val="110000"/>
              </a:lnSpc>
              <a:spcBef>
                <a:spcPct val="0"/>
              </a:spcBef>
              <a:spcAft>
                <a:spcPts val="600"/>
              </a:spcAft>
              <a:buClrTx/>
              <a:buSzTx/>
              <a:tabLst/>
            </a:pPr>
            <a:r>
              <a:rPr kumimoji="0" lang="en-GB" altLang="en-US" b="1" i="0" u="none" strike="noStrike" cap="none" normalizeH="0" baseline="0" dirty="0">
                <a:ln>
                  <a:noFill/>
                </a:ln>
                <a:effectLst/>
                <a:latin typeface="Aptos" panose="020B0004020202020204" pitchFamily="34" charset="0"/>
              </a:rPr>
              <a:t>Improvement in Part 3:</a:t>
            </a:r>
          </a:p>
          <a:p>
            <a:pPr marR="0" lvl="0" fontAlgn="base">
              <a:lnSpc>
                <a:spcPct val="110000"/>
              </a:lnSpc>
              <a:spcBef>
                <a:spcPct val="0"/>
              </a:spcBef>
              <a:spcAft>
                <a:spcPts val="600"/>
              </a:spcAft>
              <a:buClrTx/>
              <a:buSzTx/>
              <a:tabLst/>
            </a:pPr>
            <a:r>
              <a:rPr kumimoji="0" lang="en-GB" altLang="en-US" i="0" u="none" strike="noStrike" cap="none" normalizeH="0" baseline="0" dirty="0">
                <a:ln>
                  <a:noFill/>
                </a:ln>
                <a:effectLst/>
                <a:latin typeface="Aptos" panose="020B0004020202020204" pitchFamily="34" charset="0"/>
              </a:rPr>
              <a:t> Claims with hours outside the predefined range are forwarded to the </a:t>
            </a:r>
            <a:r>
              <a:rPr kumimoji="0" lang="en-GB" altLang="en-US" b="1" i="0" u="none" strike="noStrike" cap="none" normalizeH="0" baseline="0" dirty="0">
                <a:ln>
                  <a:noFill/>
                </a:ln>
                <a:effectLst/>
                <a:latin typeface="Aptos" panose="020B0004020202020204" pitchFamily="34" charset="0"/>
              </a:rPr>
              <a:t>Coordinator</a:t>
            </a:r>
            <a:r>
              <a:rPr kumimoji="0" lang="en-GB" altLang="en-US" i="0" u="none" strike="noStrike" cap="none" normalizeH="0" baseline="0" dirty="0">
                <a:ln>
                  <a:noFill/>
                </a:ln>
                <a:effectLst/>
                <a:latin typeface="Aptos" panose="020B0004020202020204" pitchFamily="34" charset="0"/>
              </a:rPr>
              <a:t>, and then to the </a:t>
            </a:r>
            <a:r>
              <a:rPr kumimoji="0" lang="en-GB" altLang="en-US" b="1" i="0" u="none" strike="noStrike" cap="none" normalizeH="0" baseline="0" dirty="0">
                <a:ln>
                  <a:noFill/>
                </a:ln>
                <a:effectLst/>
                <a:latin typeface="Aptos" panose="020B0004020202020204" pitchFamily="34" charset="0"/>
              </a:rPr>
              <a:t>Academic Manager for final approval</a:t>
            </a:r>
            <a:r>
              <a:rPr kumimoji="0" lang="en-GB" altLang="en-US" i="0" u="none" strike="noStrike" cap="none" normalizeH="0" baseline="0" dirty="0">
                <a:ln>
                  <a:noFill/>
                </a:ln>
                <a:effectLst/>
                <a:latin typeface="Aptos" panose="020B0004020202020204" pitchFamily="34" charset="0"/>
              </a:rPr>
              <a:t>. The Manager's view has been redesigned for clarity, ensuring that the approval process is straightforward.</a:t>
            </a:r>
            <a:endParaRPr kumimoji="0" lang="en-US" altLang="en-US" i="0" u="none" strike="noStrike" cap="none" normalizeH="0" baseline="0" dirty="0">
              <a:ln>
                <a:noFill/>
              </a:ln>
              <a:effectLst/>
              <a:latin typeface="Aptos" panose="020B0004020202020204" pitchFamily="34" charset="0"/>
            </a:endParaRPr>
          </a:p>
        </p:txBody>
      </p:sp>
      <p:cxnSp>
        <p:nvCxnSpPr>
          <p:cNvPr id="147" name="Straight Connector 146">
            <a:extLst>
              <a:ext uri="{FF2B5EF4-FFF2-40B4-BE49-F238E27FC236}">
                <a16:creationId xmlns:a16="http://schemas.microsoft.com/office/drawing/2014/main" id="{A7AA5624-9D0B-3033-0867-EC7429C763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green square with white text&#10;&#10;AI-generated content may be incorrect.">
            <a:extLst>
              <a:ext uri="{FF2B5EF4-FFF2-40B4-BE49-F238E27FC236}">
                <a16:creationId xmlns:a16="http://schemas.microsoft.com/office/drawing/2014/main" id="{F489ABFD-478C-B8F7-739C-E56C3A404D8B}"/>
              </a:ext>
            </a:extLst>
          </p:cNvPr>
          <p:cNvPicPr>
            <a:picLocks noChangeAspect="1"/>
          </p:cNvPicPr>
          <p:nvPr/>
        </p:nvPicPr>
        <p:blipFill>
          <a:blip r:embed="rId3">
            <a:extLst>
              <a:ext uri="{28A0092B-C50C-407E-A947-70E740481C1C}">
                <a14:useLocalDpi xmlns:a14="http://schemas.microsoft.com/office/drawing/2010/main" val="0"/>
              </a:ext>
            </a:extLst>
          </a:blip>
          <a:srcRect l="37953" r="37953"/>
          <a:stretch/>
        </p:blipFill>
        <p:spPr>
          <a:xfrm>
            <a:off x="19" y="-1"/>
            <a:ext cx="1238472" cy="6858001"/>
          </a:xfrm>
          <a:prstGeom prst="rect">
            <a:avLst/>
          </a:prstGeom>
        </p:spPr>
      </p:pic>
      <p:pic>
        <p:nvPicPr>
          <p:cNvPr id="4" name="Picture 3">
            <a:extLst>
              <a:ext uri="{FF2B5EF4-FFF2-40B4-BE49-F238E27FC236}">
                <a16:creationId xmlns:a16="http://schemas.microsoft.com/office/drawing/2014/main" id="{105D7F1E-53E1-B8C8-59BB-E7169523F4A2}"/>
              </a:ext>
            </a:extLst>
          </p:cNvPr>
          <p:cNvPicPr>
            <a:picLocks noChangeAspect="1"/>
          </p:cNvPicPr>
          <p:nvPr/>
        </p:nvPicPr>
        <p:blipFill>
          <a:blip r:embed="rId4"/>
          <a:stretch>
            <a:fillRect/>
          </a:stretch>
        </p:blipFill>
        <p:spPr>
          <a:xfrm>
            <a:off x="7922004" y="2343268"/>
            <a:ext cx="5033262" cy="2180145"/>
          </a:xfrm>
          <a:prstGeom prst="rect">
            <a:avLst/>
          </a:prstGeom>
        </p:spPr>
      </p:pic>
    </p:spTree>
    <p:extLst>
      <p:ext uri="{BB962C8B-B14F-4D97-AF65-F5344CB8AC3E}">
        <p14:creationId xmlns:p14="http://schemas.microsoft.com/office/powerpoint/2010/main" val="202245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EEA8EA-8382-A1BE-29F0-79E1ED601C05}"/>
            </a:ext>
          </a:extLst>
        </p:cNvPr>
        <p:cNvGrpSpPr/>
        <p:nvPr/>
      </p:nvGrpSpPr>
      <p:grpSpPr>
        <a:xfrm>
          <a:off x="0" y="0"/>
          <a:ext cx="0" cy="0"/>
          <a:chOff x="0" y="0"/>
          <a:chExt cx="0" cy="0"/>
        </a:xfrm>
      </p:grpSpPr>
      <p:sp useBgFill="1">
        <p:nvSpPr>
          <p:cNvPr id="159" name="Rectangle 158">
            <a:extLst>
              <a:ext uri="{FF2B5EF4-FFF2-40B4-BE49-F238E27FC236}">
                <a16:creationId xmlns:a16="http://schemas.microsoft.com/office/drawing/2014/main" id="{4109E738-3B9E-4529-9D47-C9708D612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3847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2C868B-A58A-49F3-997F-E6F62706944E}"/>
              </a:ext>
            </a:extLst>
          </p:cNvPr>
          <p:cNvSpPr>
            <a:spLocks noGrp="1"/>
          </p:cNvSpPr>
          <p:nvPr>
            <p:ph type="title"/>
          </p:nvPr>
        </p:nvSpPr>
        <p:spPr>
          <a:xfrm>
            <a:off x="1942558" y="610738"/>
            <a:ext cx="2932736" cy="3515588"/>
          </a:xfrm>
        </p:spPr>
        <p:txBody>
          <a:bodyPr vert="horz" lIns="91440" tIns="45720" rIns="91440" bIns="45720" rtlCol="0" anchor="t">
            <a:normAutofit/>
          </a:bodyPr>
          <a:lstStyle/>
          <a:p>
            <a:r>
              <a:rPr lang="en-US" sz="3200" b="1" u="sng" dirty="0">
                <a:latin typeface="Aptos Black" panose="020B0004020202020204" pitchFamily="34" charset="0"/>
              </a:rPr>
              <a:t>FEATURE 4:</a:t>
            </a:r>
            <a:br>
              <a:rPr lang="en-US" sz="3200" b="1" dirty="0">
                <a:latin typeface="Aptos Black" panose="020B0004020202020204" pitchFamily="34" charset="0"/>
              </a:rPr>
            </a:br>
            <a:br>
              <a:rPr lang="en-US" sz="3200" b="1" dirty="0">
                <a:latin typeface="Aptos Black" panose="020B0004020202020204" pitchFamily="34" charset="0"/>
              </a:rPr>
            </a:br>
            <a:r>
              <a:rPr lang="en-US" sz="2400" b="1" dirty="0">
                <a:latin typeface="Aptos Black" panose="020B0004020202020204" pitchFamily="34" charset="0"/>
              </a:rPr>
              <a:t>HR FUNCTIONALITY</a:t>
            </a:r>
            <a:br>
              <a:rPr lang="en-US" sz="3100" dirty="0"/>
            </a:br>
            <a:endParaRPr lang="en-US" sz="3100" dirty="0"/>
          </a:p>
        </p:txBody>
      </p:sp>
      <p:cxnSp>
        <p:nvCxnSpPr>
          <p:cNvPr id="161" name="Straight Connector 160">
            <a:extLst>
              <a:ext uri="{FF2B5EF4-FFF2-40B4-BE49-F238E27FC236}">
                <a16:creationId xmlns:a16="http://schemas.microsoft.com/office/drawing/2014/main" id="{4CDE69BD-5C6A-4086-B43B-2E48E20AB7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00423" y="723900"/>
            <a:ext cx="0" cy="3233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4">
            <a:extLst>
              <a:ext uri="{FF2B5EF4-FFF2-40B4-BE49-F238E27FC236}">
                <a16:creationId xmlns:a16="http://schemas.microsoft.com/office/drawing/2014/main" id="{5E2071CC-E471-B384-CB73-E71BF204A145}"/>
              </a:ext>
            </a:extLst>
          </p:cNvPr>
          <p:cNvSpPr>
            <a:spLocks noChangeArrowheads="1"/>
          </p:cNvSpPr>
          <p:nvPr/>
        </p:nvSpPr>
        <p:spPr bwMode="auto">
          <a:xfrm>
            <a:off x="5544658" y="610738"/>
            <a:ext cx="7216449" cy="351558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110000"/>
              </a:lnSpc>
              <a:spcBef>
                <a:spcPct val="0"/>
              </a:spcBef>
              <a:spcAft>
                <a:spcPts val="600"/>
              </a:spcAft>
              <a:buClrTx/>
              <a:buSzTx/>
              <a:tabLst/>
            </a:pPr>
            <a:r>
              <a:rPr kumimoji="0" lang="en-US" altLang="en-US" i="0" u="none" strike="noStrike" cap="none" normalizeH="0" baseline="0" dirty="0">
                <a:ln>
                  <a:noFill/>
                </a:ln>
                <a:effectLst/>
                <a:latin typeface="Aptos" panose="020B0004020202020204" pitchFamily="34" charset="0"/>
              </a:rPr>
              <a:t>Part 3 introduces a </a:t>
            </a:r>
            <a:r>
              <a:rPr kumimoji="0" lang="en-US" altLang="en-US" b="1" i="0" u="none" strike="noStrike" cap="none" normalizeH="0" baseline="0" dirty="0">
                <a:ln>
                  <a:noFill/>
                </a:ln>
                <a:effectLst/>
                <a:latin typeface="Aptos" panose="020B0004020202020204" pitchFamily="34" charset="0"/>
              </a:rPr>
              <a:t>new HR functionality </a:t>
            </a:r>
            <a:r>
              <a:rPr kumimoji="0" lang="en-US" altLang="en-US" i="0" u="none" strike="noStrike" cap="none" normalizeH="0" baseline="0" dirty="0">
                <a:ln>
                  <a:noFill/>
                </a:ln>
                <a:effectLst/>
                <a:latin typeface="Aptos" panose="020B0004020202020204" pitchFamily="34" charset="0"/>
              </a:rPr>
              <a:t>where HR is responsible for </a:t>
            </a:r>
            <a:r>
              <a:rPr kumimoji="0" lang="en-US" altLang="en-US" b="1" i="0" u="none" strike="noStrike" cap="none" normalizeH="0" baseline="0" dirty="0">
                <a:ln>
                  <a:noFill/>
                </a:ln>
                <a:effectLst/>
                <a:latin typeface="Aptos" panose="020B0004020202020204" pitchFamily="34" charset="0"/>
              </a:rPr>
              <a:t>creating users </a:t>
            </a:r>
            <a:r>
              <a:rPr kumimoji="0" lang="en-US" altLang="en-US" i="0" u="none" strike="noStrike" cap="none" normalizeH="0" baseline="0" dirty="0">
                <a:ln>
                  <a:noFill/>
                </a:ln>
                <a:effectLst/>
                <a:latin typeface="Aptos" panose="020B0004020202020204" pitchFamily="34" charset="0"/>
              </a:rPr>
              <a:t>in the system, including Lecturers, Coordinators, and Program Managers, and </a:t>
            </a:r>
            <a:r>
              <a:rPr kumimoji="0" lang="en-US" altLang="en-US" b="1" i="0" u="none" strike="noStrike" cap="none" normalizeH="0" baseline="0" dirty="0">
                <a:ln>
                  <a:noFill/>
                </a:ln>
                <a:effectLst/>
                <a:latin typeface="Aptos" panose="020B0004020202020204" pitchFamily="34" charset="0"/>
              </a:rPr>
              <a:t>providing</a:t>
            </a:r>
            <a:r>
              <a:rPr kumimoji="0" lang="en-US" altLang="en-US" i="0" u="none" strike="noStrike" cap="none" normalizeH="0" baseline="0" dirty="0">
                <a:ln>
                  <a:noFill/>
                </a:ln>
                <a:effectLst/>
                <a:latin typeface="Aptos" panose="020B0004020202020204" pitchFamily="34" charset="0"/>
              </a:rPr>
              <a:t> them </a:t>
            </a:r>
            <a:r>
              <a:rPr kumimoji="0" lang="en-US" altLang="en-US" b="1" i="0" u="none" strike="noStrike" cap="none" normalizeH="0" baseline="0" dirty="0">
                <a:ln>
                  <a:noFill/>
                </a:ln>
                <a:effectLst/>
                <a:latin typeface="Aptos" panose="020B0004020202020204" pitchFamily="34" charset="0"/>
              </a:rPr>
              <a:t>with login details</a:t>
            </a:r>
            <a:r>
              <a:rPr kumimoji="0" lang="en-US" altLang="en-US" i="0" u="none" strike="noStrike" cap="none" normalizeH="0" baseline="0" dirty="0">
                <a:ln>
                  <a:noFill/>
                </a:ln>
                <a:effectLst/>
                <a:latin typeface="Aptos" panose="020B0004020202020204" pitchFamily="34" charset="0"/>
              </a:rPr>
              <a:t>. HR can also </a:t>
            </a:r>
            <a:r>
              <a:rPr kumimoji="0" lang="en-US" altLang="en-US" b="1" i="0" u="none" strike="noStrike" cap="none" normalizeH="0" baseline="0" dirty="0">
                <a:ln>
                  <a:noFill/>
                </a:ln>
                <a:effectLst/>
                <a:latin typeface="Aptos" panose="020B0004020202020204" pitchFamily="34" charset="0"/>
              </a:rPr>
              <a:t>update user information </a:t>
            </a:r>
            <a:r>
              <a:rPr kumimoji="0" lang="en-US" altLang="en-US" i="0" u="none" strike="noStrike" cap="none" normalizeH="0" baseline="0" dirty="0">
                <a:ln>
                  <a:noFill/>
                </a:ln>
                <a:effectLst/>
                <a:latin typeface="Aptos" panose="020B0004020202020204" pitchFamily="34" charset="0"/>
              </a:rPr>
              <a:t>as needed, ensuring all records are accurate and up to date. The HR Dashboard has been designed with a clean and intuitive interface, </a:t>
            </a:r>
            <a:r>
              <a:rPr kumimoji="0" lang="en-US" altLang="en-US" b="1" i="0" u="none" strike="noStrike" cap="none" normalizeH="0" baseline="0" dirty="0">
                <a:ln>
                  <a:noFill/>
                </a:ln>
                <a:effectLst/>
                <a:latin typeface="Aptos" panose="020B0004020202020204" pitchFamily="34" charset="0"/>
              </a:rPr>
              <a:t>improving navigation </a:t>
            </a:r>
            <a:r>
              <a:rPr kumimoji="0" lang="en-US" altLang="en-US" i="0" u="none" strike="noStrike" cap="none" normalizeH="0" baseline="0" dirty="0">
                <a:ln>
                  <a:noFill/>
                </a:ln>
                <a:effectLst/>
                <a:latin typeface="Aptos" panose="020B0004020202020204" pitchFamily="34" charset="0"/>
              </a:rPr>
              <a:t>and ease of use. It includes summary cards that display key metrics such as Total Users, Total Lecturers, Total Claims, Pending Claims, and Approved Claims. HR is also responsible for </a:t>
            </a:r>
            <a:r>
              <a:rPr kumimoji="0" lang="en-US" altLang="en-US" b="1" i="0" u="none" strike="noStrike" cap="none" normalizeH="0" baseline="0" dirty="0">
                <a:ln>
                  <a:noFill/>
                </a:ln>
                <a:effectLst/>
                <a:latin typeface="Aptos" panose="020B0004020202020204" pitchFamily="34" charset="0"/>
              </a:rPr>
              <a:t>generating</a:t>
            </a:r>
            <a:r>
              <a:rPr lang="en-US" altLang="en-US" b="1" dirty="0">
                <a:latin typeface="Aptos" panose="020B0004020202020204" pitchFamily="34" charset="0"/>
              </a:rPr>
              <a:t> PDF</a:t>
            </a:r>
            <a:r>
              <a:rPr kumimoji="0" lang="en-US" altLang="en-US" b="1" i="0" u="none" strike="noStrike" cap="none" normalizeH="0" baseline="0" dirty="0">
                <a:ln>
                  <a:noFill/>
                </a:ln>
                <a:effectLst/>
                <a:latin typeface="Aptos" panose="020B0004020202020204" pitchFamily="34" charset="0"/>
              </a:rPr>
              <a:t> reports</a:t>
            </a:r>
            <a:r>
              <a:rPr kumimoji="0" lang="en-US" altLang="en-US" i="0" u="none" strike="noStrike" cap="none" normalizeH="0" baseline="0" dirty="0">
                <a:ln>
                  <a:noFill/>
                </a:ln>
                <a:effectLst/>
                <a:latin typeface="Aptos" panose="020B0004020202020204" pitchFamily="34" charset="0"/>
              </a:rPr>
              <a:t> on approved claims</a:t>
            </a:r>
          </a:p>
        </p:txBody>
      </p:sp>
      <p:pic>
        <p:nvPicPr>
          <p:cNvPr id="13" name="Picture 12">
            <a:extLst>
              <a:ext uri="{FF2B5EF4-FFF2-40B4-BE49-F238E27FC236}">
                <a16:creationId xmlns:a16="http://schemas.microsoft.com/office/drawing/2014/main" id="{FA228530-9F64-17FF-73BC-B35EF1D454EA}"/>
              </a:ext>
            </a:extLst>
          </p:cNvPr>
          <p:cNvPicPr>
            <a:picLocks noChangeAspect="1"/>
          </p:cNvPicPr>
          <p:nvPr/>
        </p:nvPicPr>
        <p:blipFill>
          <a:blip r:embed="rId3"/>
          <a:srcRect r="22351" b="-4"/>
          <a:stretch>
            <a:fillRect/>
          </a:stretch>
        </p:blipFill>
        <p:spPr>
          <a:xfrm>
            <a:off x="8178782" y="4177264"/>
            <a:ext cx="2322458" cy="2377916"/>
          </a:xfrm>
          <a:prstGeom prst="rect">
            <a:avLst/>
          </a:prstGeom>
        </p:spPr>
      </p:pic>
      <p:pic>
        <p:nvPicPr>
          <p:cNvPr id="11" name="Picture 10">
            <a:extLst>
              <a:ext uri="{FF2B5EF4-FFF2-40B4-BE49-F238E27FC236}">
                <a16:creationId xmlns:a16="http://schemas.microsoft.com/office/drawing/2014/main" id="{A71AF890-14EF-C6BB-36D1-0E51B7B6570E}"/>
              </a:ext>
            </a:extLst>
          </p:cNvPr>
          <p:cNvPicPr>
            <a:picLocks noChangeAspect="1"/>
          </p:cNvPicPr>
          <p:nvPr/>
        </p:nvPicPr>
        <p:blipFill>
          <a:blip r:embed="rId4"/>
          <a:srcRect r="11461" b="3"/>
          <a:stretch>
            <a:fillRect/>
          </a:stretch>
        </p:blipFill>
        <p:spPr>
          <a:xfrm>
            <a:off x="5235641" y="4596903"/>
            <a:ext cx="2807920" cy="1958277"/>
          </a:xfrm>
          <a:prstGeom prst="rect">
            <a:avLst/>
          </a:prstGeom>
        </p:spPr>
      </p:pic>
      <p:pic>
        <p:nvPicPr>
          <p:cNvPr id="15" name="Picture 14">
            <a:extLst>
              <a:ext uri="{FF2B5EF4-FFF2-40B4-BE49-F238E27FC236}">
                <a16:creationId xmlns:a16="http://schemas.microsoft.com/office/drawing/2014/main" id="{D7E46201-8FEC-A3E0-47F7-CB12122C142E}"/>
              </a:ext>
            </a:extLst>
          </p:cNvPr>
          <p:cNvPicPr>
            <a:picLocks noChangeAspect="1"/>
          </p:cNvPicPr>
          <p:nvPr/>
        </p:nvPicPr>
        <p:blipFill>
          <a:blip r:embed="rId5"/>
          <a:srcRect r="24206" b="2"/>
          <a:stretch>
            <a:fillRect/>
          </a:stretch>
        </p:blipFill>
        <p:spPr>
          <a:xfrm>
            <a:off x="10636461" y="4452757"/>
            <a:ext cx="2609605" cy="1859197"/>
          </a:xfrm>
          <a:prstGeom prst="rect">
            <a:avLst/>
          </a:prstGeom>
        </p:spPr>
      </p:pic>
      <p:pic>
        <p:nvPicPr>
          <p:cNvPr id="5" name="Picture 4" descr="A green square with white text&#10;&#10;AI-generated content may be incorrect.">
            <a:extLst>
              <a:ext uri="{FF2B5EF4-FFF2-40B4-BE49-F238E27FC236}">
                <a16:creationId xmlns:a16="http://schemas.microsoft.com/office/drawing/2014/main" id="{F4036087-1BAA-FAA2-2D7A-F43C5752A00C}"/>
              </a:ext>
            </a:extLst>
          </p:cNvPr>
          <p:cNvPicPr>
            <a:picLocks noChangeAspect="1"/>
          </p:cNvPicPr>
          <p:nvPr/>
        </p:nvPicPr>
        <p:blipFill>
          <a:blip r:embed="rId6">
            <a:extLst>
              <a:ext uri="{28A0092B-C50C-407E-A947-70E740481C1C}">
                <a14:useLocalDpi xmlns:a14="http://schemas.microsoft.com/office/drawing/2010/main" val="0"/>
              </a:ext>
            </a:extLst>
          </a:blip>
          <a:srcRect l="37953" r="37953"/>
          <a:stretch/>
        </p:blipFill>
        <p:spPr>
          <a:xfrm>
            <a:off x="19" y="-1"/>
            <a:ext cx="1238472" cy="6858001"/>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4BE0B2C1-2956-D5BD-317A-AD2878CAF4B9}"/>
              </a:ext>
            </a:extLst>
          </p:cNvPr>
          <p:cNvPicPr>
            <a:picLocks noChangeAspect="1"/>
          </p:cNvPicPr>
          <p:nvPr/>
        </p:nvPicPr>
        <p:blipFill>
          <a:blip r:embed="rId7">
            <a:extLst>
              <a:ext uri="{28A0092B-C50C-407E-A947-70E740481C1C}">
                <a14:useLocalDpi xmlns:a14="http://schemas.microsoft.com/office/drawing/2010/main" val="0"/>
              </a:ext>
            </a:extLst>
          </a:blip>
          <a:srcRect l="7033" t="8448" r="9476"/>
          <a:stretch>
            <a:fillRect/>
          </a:stretch>
        </p:blipFill>
        <p:spPr>
          <a:xfrm>
            <a:off x="1373712" y="4452757"/>
            <a:ext cx="3726708" cy="2170970"/>
          </a:xfrm>
          <a:prstGeom prst="rect">
            <a:avLst/>
          </a:prstGeom>
        </p:spPr>
      </p:pic>
    </p:spTree>
    <p:extLst>
      <p:ext uri="{BB962C8B-B14F-4D97-AF65-F5344CB8AC3E}">
        <p14:creationId xmlns:p14="http://schemas.microsoft.com/office/powerpoint/2010/main" val="2807634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94DCEB-FEEC-2E11-01D5-FF4F7AC0922D}"/>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8140BC05-9A72-31CF-A65A-BB820391A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3847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5D79A4-5269-9327-37DC-29905946C50D}"/>
              </a:ext>
            </a:extLst>
          </p:cNvPr>
          <p:cNvSpPr>
            <a:spLocks noGrp="1"/>
          </p:cNvSpPr>
          <p:nvPr>
            <p:ph type="title"/>
          </p:nvPr>
        </p:nvSpPr>
        <p:spPr>
          <a:xfrm>
            <a:off x="1938559" y="909637"/>
            <a:ext cx="6283419" cy="1316736"/>
          </a:xfrm>
        </p:spPr>
        <p:txBody>
          <a:bodyPr vert="horz" lIns="91440" tIns="45720" rIns="91440" bIns="45720" rtlCol="0" anchor="t">
            <a:normAutofit/>
          </a:bodyPr>
          <a:lstStyle/>
          <a:p>
            <a:pPr>
              <a:lnSpc>
                <a:spcPct val="90000"/>
              </a:lnSpc>
            </a:pPr>
            <a:r>
              <a:rPr lang="en-GB" sz="2200" b="1" u="sng" dirty="0">
                <a:latin typeface="Aptos Black" panose="020B0004020202020204" pitchFamily="34" charset="0"/>
              </a:rPr>
              <a:t>FEATURE 5:</a:t>
            </a:r>
            <a:br>
              <a:rPr lang="en-GB" sz="2200" b="1" dirty="0">
                <a:latin typeface="Aptos Black" panose="020B0004020202020204" pitchFamily="34" charset="0"/>
              </a:rPr>
            </a:br>
            <a:br>
              <a:rPr lang="en-GB" sz="2200" b="1" dirty="0">
                <a:latin typeface="Aptos Black" panose="020B0004020202020204" pitchFamily="34" charset="0"/>
              </a:rPr>
            </a:br>
            <a:r>
              <a:rPr lang="en-GB" sz="2200" b="1" dirty="0">
                <a:latin typeface="Aptos Black" panose="020B0004020202020204" pitchFamily="34" charset="0"/>
              </a:rPr>
              <a:t> SESSION &amp; ROLE SECURITY</a:t>
            </a:r>
            <a:br>
              <a:rPr lang="en-US" sz="2200" dirty="0"/>
            </a:br>
            <a:endParaRPr lang="en-US" sz="2200" dirty="0"/>
          </a:p>
        </p:txBody>
      </p:sp>
      <p:cxnSp>
        <p:nvCxnSpPr>
          <p:cNvPr id="146" name="Straight Connector 145">
            <a:extLst>
              <a:ext uri="{FF2B5EF4-FFF2-40B4-BE49-F238E27FC236}">
                <a16:creationId xmlns:a16="http://schemas.microsoft.com/office/drawing/2014/main" id="{0AF17F31-F541-5EDE-5C7C-A53E151722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4">
            <a:extLst>
              <a:ext uri="{FF2B5EF4-FFF2-40B4-BE49-F238E27FC236}">
                <a16:creationId xmlns:a16="http://schemas.microsoft.com/office/drawing/2014/main" id="{298E089F-A1B3-A835-011E-F1B0EEE9A0CF}"/>
              </a:ext>
            </a:extLst>
          </p:cNvPr>
          <p:cNvSpPr>
            <a:spLocks noChangeArrowheads="1"/>
          </p:cNvSpPr>
          <p:nvPr/>
        </p:nvSpPr>
        <p:spPr bwMode="auto">
          <a:xfrm>
            <a:off x="1938560" y="2226373"/>
            <a:ext cx="5793330" cy="344521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110000"/>
              </a:lnSpc>
              <a:spcBef>
                <a:spcPct val="0"/>
              </a:spcBef>
              <a:spcAft>
                <a:spcPts val="600"/>
              </a:spcAft>
              <a:buClrTx/>
              <a:buSzTx/>
              <a:tabLst/>
            </a:pPr>
            <a:r>
              <a:rPr kumimoji="0" lang="en-GB" altLang="en-US" b="1" i="0" u="none" strike="noStrike" cap="none" normalizeH="0" baseline="0" dirty="0">
                <a:ln>
                  <a:noFill/>
                </a:ln>
                <a:effectLst/>
                <a:latin typeface="Aptos" panose="020B0004020202020204" pitchFamily="34" charset="0"/>
              </a:rPr>
              <a:t>Role-based security </a:t>
            </a:r>
            <a:r>
              <a:rPr kumimoji="0" lang="en-GB" altLang="en-US" i="0" u="none" strike="noStrike" cap="none" normalizeH="0" baseline="0" dirty="0">
                <a:ln>
                  <a:noFill/>
                </a:ln>
                <a:effectLst/>
                <a:latin typeface="Aptos" panose="020B0004020202020204" pitchFamily="34" charset="0"/>
              </a:rPr>
              <a:t>has been implemented in Part 3 to ensure that only </a:t>
            </a:r>
            <a:r>
              <a:rPr kumimoji="0" lang="en-GB" altLang="en-US" b="1" i="0" u="none" strike="noStrike" cap="none" normalizeH="0" baseline="0" dirty="0">
                <a:ln>
                  <a:noFill/>
                </a:ln>
                <a:effectLst/>
                <a:latin typeface="Aptos" panose="020B0004020202020204" pitchFamily="34" charset="0"/>
              </a:rPr>
              <a:t>authorized users </a:t>
            </a:r>
            <a:r>
              <a:rPr kumimoji="0" lang="en-GB" altLang="en-US" i="0" u="none" strike="noStrike" cap="none" normalizeH="0" baseline="0" dirty="0">
                <a:ln>
                  <a:noFill/>
                </a:ln>
                <a:effectLst/>
                <a:latin typeface="Aptos" panose="020B0004020202020204" pitchFamily="34" charset="0"/>
              </a:rPr>
              <a:t>can access </a:t>
            </a:r>
            <a:r>
              <a:rPr kumimoji="0" lang="en-GB" altLang="en-US" b="1" i="0" u="none" strike="noStrike" cap="none" normalizeH="0" baseline="0" dirty="0">
                <a:ln>
                  <a:noFill/>
                </a:ln>
                <a:effectLst/>
                <a:latin typeface="Aptos" panose="020B0004020202020204" pitchFamily="34" charset="0"/>
              </a:rPr>
              <a:t>specific areas </a:t>
            </a:r>
            <a:r>
              <a:rPr kumimoji="0" lang="en-GB" altLang="en-US" i="0" u="none" strike="noStrike" cap="none" normalizeH="0" baseline="0" dirty="0">
                <a:ln>
                  <a:noFill/>
                </a:ln>
                <a:effectLst/>
                <a:latin typeface="Aptos" panose="020B0004020202020204" pitchFamily="34" charset="0"/>
              </a:rPr>
              <a:t>of the system. Lecturers, for example, cannot access HR, Coordinator, or Manager pages, and vice versa. This ensures that each user only interacts with the pages relevant to their role. Unauthorized users attempting to access restricted pages are automatically redirected to the Login page, maintaining a secure environment for sensitive data.</a:t>
            </a:r>
            <a:endParaRPr kumimoji="0" lang="en-US" altLang="en-US" i="0" u="none" strike="noStrike" cap="none" normalizeH="0" baseline="0" dirty="0">
              <a:ln>
                <a:noFill/>
              </a:ln>
              <a:effectLst/>
              <a:latin typeface="Aptos" panose="020B0004020202020204" pitchFamily="34" charset="0"/>
            </a:endParaRPr>
          </a:p>
        </p:txBody>
      </p:sp>
      <p:cxnSp>
        <p:nvCxnSpPr>
          <p:cNvPr id="147" name="Straight Connector 146">
            <a:extLst>
              <a:ext uri="{FF2B5EF4-FFF2-40B4-BE49-F238E27FC236}">
                <a16:creationId xmlns:a16="http://schemas.microsoft.com/office/drawing/2014/main" id="{77C27023-7EAD-F5BB-450B-EB3AF24A01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green square with white text&#10;&#10;AI-generated content may be incorrect.">
            <a:extLst>
              <a:ext uri="{FF2B5EF4-FFF2-40B4-BE49-F238E27FC236}">
                <a16:creationId xmlns:a16="http://schemas.microsoft.com/office/drawing/2014/main" id="{3B74C1B0-6C4F-7012-E5C5-14C5B912EA62}"/>
              </a:ext>
            </a:extLst>
          </p:cNvPr>
          <p:cNvPicPr>
            <a:picLocks noChangeAspect="1"/>
          </p:cNvPicPr>
          <p:nvPr/>
        </p:nvPicPr>
        <p:blipFill>
          <a:blip r:embed="rId3">
            <a:extLst>
              <a:ext uri="{28A0092B-C50C-407E-A947-70E740481C1C}">
                <a14:useLocalDpi xmlns:a14="http://schemas.microsoft.com/office/drawing/2010/main" val="0"/>
              </a:ext>
            </a:extLst>
          </a:blip>
          <a:srcRect l="37953" r="37953"/>
          <a:stretch/>
        </p:blipFill>
        <p:spPr>
          <a:xfrm>
            <a:off x="19" y="-1"/>
            <a:ext cx="1238472" cy="6858001"/>
          </a:xfrm>
          <a:prstGeom prst="rect">
            <a:avLst/>
          </a:prstGeom>
        </p:spPr>
      </p:pic>
      <p:pic>
        <p:nvPicPr>
          <p:cNvPr id="6" name="Picture 5">
            <a:extLst>
              <a:ext uri="{FF2B5EF4-FFF2-40B4-BE49-F238E27FC236}">
                <a16:creationId xmlns:a16="http://schemas.microsoft.com/office/drawing/2014/main" id="{F35EC36E-1581-32E5-24C0-0A8C4320C39E}"/>
              </a:ext>
            </a:extLst>
          </p:cNvPr>
          <p:cNvPicPr>
            <a:picLocks noChangeAspect="1"/>
          </p:cNvPicPr>
          <p:nvPr/>
        </p:nvPicPr>
        <p:blipFill>
          <a:blip r:embed="rId4"/>
          <a:stretch>
            <a:fillRect/>
          </a:stretch>
        </p:blipFill>
        <p:spPr>
          <a:xfrm>
            <a:off x="7940235" y="2123655"/>
            <a:ext cx="4898482" cy="2619371"/>
          </a:xfrm>
          <a:prstGeom prst="rect">
            <a:avLst/>
          </a:prstGeom>
        </p:spPr>
      </p:pic>
    </p:spTree>
    <p:extLst>
      <p:ext uri="{BB962C8B-B14F-4D97-AF65-F5344CB8AC3E}">
        <p14:creationId xmlns:p14="http://schemas.microsoft.com/office/powerpoint/2010/main" val="278551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7A37E8-FFCD-93E1-9E31-E6597108D466}"/>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FF4F932E-8B2D-1C93-8627-A66A8B810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3847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F34A73-82A2-39D9-33A8-64F578112CAB}"/>
              </a:ext>
            </a:extLst>
          </p:cNvPr>
          <p:cNvSpPr>
            <a:spLocks noGrp="1"/>
          </p:cNvSpPr>
          <p:nvPr>
            <p:ph type="title"/>
          </p:nvPr>
        </p:nvSpPr>
        <p:spPr>
          <a:xfrm>
            <a:off x="1938559" y="909637"/>
            <a:ext cx="6283419" cy="1316736"/>
          </a:xfrm>
        </p:spPr>
        <p:txBody>
          <a:bodyPr vert="horz" lIns="91440" tIns="45720" rIns="91440" bIns="45720" rtlCol="0" anchor="t">
            <a:normAutofit/>
          </a:bodyPr>
          <a:lstStyle/>
          <a:p>
            <a:pPr>
              <a:lnSpc>
                <a:spcPct val="90000"/>
              </a:lnSpc>
            </a:pPr>
            <a:r>
              <a:rPr lang="en-GB" sz="2200" b="1" u="sng" dirty="0">
                <a:latin typeface="Aptos Black" panose="020B0004020202020204" pitchFamily="34" charset="0"/>
              </a:rPr>
              <a:t>CONCLUSION:</a:t>
            </a:r>
            <a:br>
              <a:rPr lang="en-US" sz="2200" dirty="0"/>
            </a:br>
            <a:endParaRPr lang="en-US" sz="2200" dirty="0"/>
          </a:p>
        </p:txBody>
      </p:sp>
      <p:cxnSp>
        <p:nvCxnSpPr>
          <p:cNvPr id="146" name="Straight Connector 145">
            <a:extLst>
              <a:ext uri="{FF2B5EF4-FFF2-40B4-BE49-F238E27FC236}">
                <a16:creationId xmlns:a16="http://schemas.microsoft.com/office/drawing/2014/main" id="{7B569687-95A7-5284-AACD-C3A9427EA6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4">
            <a:extLst>
              <a:ext uri="{FF2B5EF4-FFF2-40B4-BE49-F238E27FC236}">
                <a16:creationId xmlns:a16="http://schemas.microsoft.com/office/drawing/2014/main" id="{FA489F3A-04B5-6261-11A4-9056AA23A7CA}"/>
              </a:ext>
            </a:extLst>
          </p:cNvPr>
          <p:cNvSpPr>
            <a:spLocks noChangeArrowheads="1"/>
          </p:cNvSpPr>
          <p:nvPr/>
        </p:nvSpPr>
        <p:spPr bwMode="auto">
          <a:xfrm>
            <a:off x="1938559" y="1633538"/>
            <a:ext cx="9636124" cy="344521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110000"/>
              </a:lnSpc>
              <a:spcBef>
                <a:spcPct val="0"/>
              </a:spcBef>
              <a:spcAft>
                <a:spcPts val="600"/>
              </a:spcAft>
              <a:buClrTx/>
              <a:buSzTx/>
              <a:tabLst/>
            </a:pPr>
            <a:r>
              <a:rPr kumimoji="0" lang="en-GB" altLang="en-US" b="1" i="0" u="none" strike="noStrike" cap="none" normalizeH="0" baseline="0" dirty="0">
                <a:ln>
                  <a:noFill/>
                </a:ln>
                <a:effectLst/>
                <a:latin typeface="Aptos" panose="020B0004020202020204" pitchFamily="34" charset="0"/>
              </a:rPr>
              <a:t>Part 3 </a:t>
            </a:r>
            <a:r>
              <a:rPr kumimoji="0" lang="en-GB" altLang="en-US" i="0" u="none" strike="noStrike" cap="none" normalizeH="0" baseline="0" dirty="0">
                <a:ln>
                  <a:noFill/>
                </a:ln>
                <a:effectLst/>
                <a:latin typeface="Aptos" panose="020B0004020202020204" pitchFamily="34" charset="0"/>
              </a:rPr>
              <a:t>successfully addresses all </a:t>
            </a:r>
            <a:r>
              <a:rPr kumimoji="0" lang="en-GB" altLang="en-US" b="1" i="0" u="none" strike="noStrike" cap="none" normalizeH="0" baseline="0" dirty="0">
                <a:ln>
                  <a:noFill/>
                </a:ln>
                <a:effectLst/>
                <a:latin typeface="Aptos" panose="020B0004020202020204" pitchFamily="34" charset="0"/>
              </a:rPr>
              <a:t>Part 2 </a:t>
            </a:r>
            <a:r>
              <a:rPr kumimoji="0" lang="en-GB" altLang="en-US" i="0" u="none" strike="noStrike" cap="none" normalizeH="0" baseline="0" dirty="0">
                <a:ln>
                  <a:noFill/>
                </a:ln>
                <a:effectLst/>
                <a:latin typeface="Aptos" panose="020B0004020202020204" pitchFamily="34" charset="0"/>
              </a:rPr>
              <a:t>feedback and introduces new features such as:</a:t>
            </a:r>
          </a:p>
          <a:p>
            <a:pPr marR="0" lvl="0" fontAlgn="base">
              <a:lnSpc>
                <a:spcPct val="110000"/>
              </a:lnSpc>
              <a:spcBef>
                <a:spcPct val="0"/>
              </a:spcBef>
              <a:spcAft>
                <a:spcPts val="600"/>
              </a:spcAft>
              <a:buClrTx/>
              <a:buSzTx/>
              <a:tabLst/>
            </a:pPr>
            <a:endParaRPr lang="en-GB" altLang="en-US" b="1" dirty="0">
              <a:latin typeface="Aptos" panose="020B0004020202020204" pitchFamily="34" charset="0"/>
            </a:endParaRPr>
          </a:p>
          <a:p>
            <a:pPr marL="285750" marR="0" lvl="0" indent="-285750" fontAlgn="base">
              <a:lnSpc>
                <a:spcPct val="110000"/>
              </a:lnSpc>
              <a:spcBef>
                <a:spcPct val="0"/>
              </a:spcBef>
              <a:spcAft>
                <a:spcPts val="600"/>
              </a:spcAft>
              <a:buClrTx/>
              <a:buSzTx/>
              <a:buFont typeface="Arial" panose="020B0604020202020204" pitchFamily="34" charset="0"/>
              <a:buChar char="•"/>
              <a:tabLst/>
            </a:pPr>
            <a:r>
              <a:rPr kumimoji="0" lang="en-GB" altLang="en-US" i="0" u="none" strike="noStrike" cap="none" normalizeH="0" baseline="0" dirty="0">
                <a:ln>
                  <a:noFill/>
                </a:ln>
                <a:effectLst/>
                <a:latin typeface="Aptos" panose="020B0004020202020204" pitchFamily="34" charset="0"/>
              </a:rPr>
              <a:t>Automated claim submission.</a:t>
            </a:r>
          </a:p>
          <a:p>
            <a:pPr marL="285750" marR="0" lvl="0" indent="-285750" fontAlgn="base">
              <a:lnSpc>
                <a:spcPct val="110000"/>
              </a:lnSpc>
              <a:spcBef>
                <a:spcPct val="0"/>
              </a:spcBef>
              <a:spcAft>
                <a:spcPts val="600"/>
              </a:spcAft>
              <a:buClrTx/>
              <a:buSzTx/>
              <a:buFont typeface="Arial" panose="020B0604020202020204" pitchFamily="34" charset="0"/>
              <a:buChar char="•"/>
              <a:tabLst/>
            </a:pPr>
            <a:r>
              <a:rPr lang="en-GB" altLang="en-US" dirty="0">
                <a:latin typeface="Aptos" panose="020B0004020202020204" pitchFamily="34" charset="0"/>
              </a:rPr>
              <a:t>Automated approval </a:t>
            </a:r>
            <a:r>
              <a:rPr kumimoji="0" lang="en-GB" altLang="en-US" i="0" u="none" strike="noStrike" cap="none" normalizeH="0" baseline="0" dirty="0">
                <a:ln>
                  <a:noFill/>
                </a:ln>
                <a:effectLst/>
                <a:latin typeface="Aptos" panose="020B0004020202020204" pitchFamily="34" charset="0"/>
              </a:rPr>
              <a:t>(if specified criteria are met).</a:t>
            </a:r>
          </a:p>
          <a:p>
            <a:pPr marL="285750" marR="0" lvl="0" indent="-285750" fontAlgn="base">
              <a:lnSpc>
                <a:spcPct val="110000"/>
              </a:lnSpc>
              <a:spcBef>
                <a:spcPct val="0"/>
              </a:spcBef>
              <a:spcAft>
                <a:spcPts val="600"/>
              </a:spcAft>
              <a:buClrTx/>
              <a:buSzTx/>
              <a:buFont typeface="Arial" panose="020B0604020202020204" pitchFamily="34" charset="0"/>
              <a:buChar char="•"/>
              <a:tabLst/>
            </a:pPr>
            <a:r>
              <a:rPr kumimoji="0" lang="en-GB" altLang="en-US" i="0" u="none" strike="noStrike" cap="none" normalizeH="0" baseline="0" dirty="0">
                <a:ln>
                  <a:noFill/>
                </a:ln>
                <a:effectLst/>
                <a:latin typeface="Aptos" panose="020B0004020202020204" pitchFamily="34" charset="0"/>
              </a:rPr>
              <a:t>HR functionality.</a:t>
            </a:r>
          </a:p>
          <a:p>
            <a:pPr marL="285750" marR="0" lvl="0" indent="-285750" fontAlgn="base">
              <a:lnSpc>
                <a:spcPct val="110000"/>
              </a:lnSpc>
              <a:spcBef>
                <a:spcPct val="0"/>
              </a:spcBef>
              <a:spcAft>
                <a:spcPts val="600"/>
              </a:spcAft>
              <a:buClrTx/>
              <a:buSzTx/>
              <a:buFont typeface="Arial" panose="020B0604020202020204" pitchFamily="34" charset="0"/>
              <a:buChar char="•"/>
              <a:tabLst/>
            </a:pPr>
            <a:r>
              <a:rPr kumimoji="0" lang="en-GB" altLang="en-US" i="0" u="none" strike="noStrike" cap="none" normalizeH="0" baseline="0" dirty="0">
                <a:ln>
                  <a:noFill/>
                </a:ln>
                <a:effectLst/>
                <a:latin typeface="Aptos" panose="020B0004020202020204" pitchFamily="34" charset="0"/>
              </a:rPr>
              <a:t>PDF export for approved claims.</a:t>
            </a:r>
          </a:p>
          <a:p>
            <a:pPr marR="0" lvl="0" fontAlgn="base">
              <a:lnSpc>
                <a:spcPct val="110000"/>
              </a:lnSpc>
              <a:spcBef>
                <a:spcPct val="0"/>
              </a:spcBef>
              <a:spcAft>
                <a:spcPts val="600"/>
              </a:spcAft>
              <a:buClrTx/>
              <a:buSzTx/>
              <a:tabLst/>
            </a:pPr>
            <a:endParaRPr lang="en-GB" altLang="en-US" b="1" dirty="0">
              <a:latin typeface="Aptos" panose="020B0004020202020204" pitchFamily="34" charset="0"/>
            </a:endParaRPr>
          </a:p>
          <a:p>
            <a:pPr marR="0" lvl="0" fontAlgn="base">
              <a:lnSpc>
                <a:spcPct val="110000"/>
              </a:lnSpc>
              <a:spcBef>
                <a:spcPct val="0"/>
              </a:spcBef>
              <a:spcAft>
                <a:spcPts val="600"/>
              </a:spcAft>
              <a:buClrTx/>
              <a:buSzTx/>
              <a:tabLst/>
            </a:pPr>
            <a:r>
              <a:rPr kumimoji="0" lang="en-GB" altLang="en-US" i="0" u="none" strike="noStrike" cap="none" normalizeH="0" baseline="0" dirty="0">
                <a:ln>
                  <a:noFill/>
                </a:ln>
                <a:effectLst/>
                <a:latin typeface="Aptos" panose="020B0004020202020204" pitchFamily="34" charset="0"/>
              </a:rPr>
              <a:t>The</a:t>
            </a:r>
            <a:r>
              <a:rPr kumimoji="0" lang="en-GB" altLang="en-US" b="1" i="0" u="none" strike="noStrike" cap="none" normalizeH="0" baseline="0" dirty="0">
                <a:ln>
                  <a:noFill/>
                </a:ln>
                <a:effectLst/>
                <a:latin typeface="Aptos" panose="020B0004020202020204" pitchFamily="34" charset="0"/>
              </a:rPr>
              <a:t> UI </a:t>
            </a:r>
            <a:r>
              <a:rPr kumimoji="0" lang="en-GB" altLang="en-US" i="0" u="none" strike="noStrike" cap="none" normalizeH="0" baseline="0" dirty="0">
                <a:ln>
                  <a:noFill/>
                </a:ln>
                <a:effectLst/>
                <a:latin typeface="Aptos" panose="020B0004020202020204" pitchFamily="34" charset="0"/>
              </a:rPr>
              <a:t>is streamlined with a clean green theme to improve usability. Role-based access ensures secure claim processing and efficient administrative tasks.</a:t>
            </a:r>
            <a:endParaRPr kumimoji="0" lang="en-US" altLang="en-US" i="0" u="none" strike="noStrike" cap="none" normalizeH="0" baseline="0" dirty="0">
              <a:ln>
                <a:noFill/>
              </a:ln>
              <a:effectLst/>
              <a:latin typeface="Aptos" panose="020B0004020202020204" pitchFamily="34" charset="0"/>
            </a:endParaRPr>
          </a:p>
        </p:txBody>
      </p:sp>
      <p:cxnSp>
        <p:nvCxnSpPr>
          <p:cNvPr id="147" name="Straight Connector 146">
            <a:extLst>
              <a:ext uri="{FF2B5EF4-FFF2-40B4-BE49-F238E27FC236}">
                <a16:creationId xmlns:a16="http://schemas.microsoft.com/office/drawing/2014/main" id="{C009A159-02EC-88D3-F9DD-08F2889379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38572"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green square with white text&#10;&#10;AI-generated content may be incorrect.">
            <a:extLst>
              <a:ext uri="{FF2B5EF4-FFF2-40B4-BE49-F238E27FC236}">
                <a16:creationId xmlns:a16="http://schemas.microsoft.com/office/drawing/2014/main" id="{688B9D9D-B392-7163-DBBA-D3C373593148}"/>
              </a:ext>
            </a:extLst>
          </p:cNvPr>
          <p:cNvPicPr>
            <a:picLocks noChangeAspect="1"/>
          </p:cNvPicPr>
          <p:nvPr/>
        </p:nvPicPr>
        <p:blipFill>
          <a:blip r:embed="rId3">
            <a:extLst>
              <a:ext uri="{28A0092B-C50C-407E-A947-70E740481C1C}">
                <a14:useLocalDpi xmlns:a14="http://schemas.microsoft.com/office/drawing/2010/main" val="0"/>
              </a:ext>
            </a:extLst>
          </a:blip>
          <a:srcRect l="37953" r="37953"/>
          <a:stretch/>
        </p:blipFill>
        <p:spPr>
          <a:xfrm>
            <a:off x="19" y="-1"/>
            <a:ext cx="1238472" cy="6858001"/>
          </a:xfrm>
          <a:prstGeom prst="rect">
            <a:avLst/>
          </a:prstGeom>
        </p:spPr>
      </p:pic>
      <p:sp>
        <p:nvSpPr>
          <p:cNvPr id="3" name="TextBox 2">
            <a:extLst>
              <a:ext uri="{FF2B5EF4-FFF2-40B4-BE49-F238E27FC236}">
                <a16:creationId xmlns:a16="http://schemas.microsoft.com/office/drawing/2014/main" id="{328307C5-40DC-BC74-FD28-26F4E23A1346}"/>
              </a:ext>
            </a:extLst>
          </p:cNvPr>
          <p:cNvSpPr txBox="1"/>
          <p:nvPr/>
        </p:nvSpPr>
        <p:spPr>
          <a:xfrm>
            <a:off x="6756621" y="6315725"/>
            <a:ext cx="3032567" cy="369332"/>
          </a:xfrm>
          <a:prstGeom prst="rect">
            <a:avLst/>
          </a:prstGeom>
          <a:noFill/>
        </p:spPr>
        <p:txBody>
          <a:bodyPr wrap="square" rtlCol="0">
            <a:spAutoFit/>
          </a:bodyPr>
          <a:lstStyle/>
          <a:p>
            <a:r>
              <a:rPr lang="en-ZA" dirty="0">
                <a:latin typeface="Aptos Black" panose="020B0004020202020204" pitchFamily="34" charset="0"/>
              </a:rPr>
              <a:t>THE END</a:t>
            </a:r>
          </a:p>
        </p:txBody>
      </p:sp>
    </p:spTree>
    <p:extLst>
      <p:ext uri="{BB962C8B-B14F-4D97-AF65-F5344CB8AC3E}">
        <p14:creationId xmlns:p14="http://schemas.microsoft.com/office/powerpoint/2010/main" val="1931525798"/>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227</TotalTime>
  <Words>1007</Words>
  <Application>Microsoft Office PowerPoint</Application>
  <PresentationFormat>Widescreen</PresentationFormat>
  <Paragraphs>60</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Amasis MT Pro Black</vt:lpstr>
      <vt:lpstr>Aptos</vt:lpstr>
      <vt:lpstr>Aptos Black</vt:lpstr>
      <vt:lpstr>Arial</vt:lpstr>
      <vt:lpstr>Calisto MT</vt:lpstr>
      <vt:lpstr>Univers Condensed</vt:lpstr>
      <vt:lpstr>ChronicleVTI</vt:lpstr>
      <vt:lpstr>PROG6212 POE: Contract Monthly Claim System</vt:lpstr>
      <vt:lpstr>This presentation covers: </vt:lpstr>
      <vt:lpstr>Lecturer Feedback Received in Part 2: </vt:lpstr>
      <vt:lpstr>FIX 1: PROGRAMME MANAGER VERIFICATION &amp; BUTTON OVERLAP </vt:lpstr>
      <vt:lpstr>Fix 2: Implemented in Part 3, Unit Testing &amp; Error Handling </vt:lpstr>
      <vt:lpstr>PART 3 FEATURES:   FEATURE 1: AUTOMATED CLAIM SUBMISSION </vt:lpstr>
      <vt:lpstr>FEATURE 2 :  COORDINATOR  APPROVAL WORKFLOW </vt:lpstr>
      <vt:lpstr>FEATURE 3:   ACADEMIC MANAGER FINAL APPROVAL </vt:lpstr>
      <vt:lpstr>FEATURE 4:  HR FUNCTIONALITY </vt:lpstr>
      <vt:lpstr>FEATURE 5:   SESSION &amp; ROLE SECURITY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Keona Mackan</dc:creator>
  <cp:lastModifiedBy>Keona Mackan</cp:lastModifiedBy>
  <cp:revision>8</cp:revision>
  <dcterms:created xsi:type="dcterms:W3CDTF">2025-11-21T12:34:49Z</dcterms:created>
  <dcterms:modified xsi:type="dcterms:W3CDTF">2025-11-21T16:39:02Z</dcterms:modified>
</cp:coreProperties>
</file>